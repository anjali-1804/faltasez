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notesSlides/notesSlide1.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drawings/drawing1.xml" ContentType="application/vnd.openxmlformats-officedocument.drawingml.chartshapes+xml"/>
  <Override PartName="/ppt/charts/chart5.xml" ContentType="application/vnd.openxmlformats-officedocument.drawingml.chart+xml"/>
  <Override PartName="/ppt/charts/chart6.xml" ContentType="application/vnd.openxmlformats-officedocument.drawingml.chart+xml"/>
  <Override PartName="/ppt/charts/style1.xml" ContentType="application/vnd.ms-office.chartstyle+xml"/>
  <Override PartName="/ppt/charts/colors1.xml" ContentType="application/vnd.ms-office.chartcolorstyle+xml"/>
  <Override PartName="/ppt/charts/chart7.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330" r:id="rId3"/>
    <p:sldId id="326" r:id="rId4"/>
    <p:sldId id="309" r:id="rId5"/>
    <p:sldId id="352" r:id="rId6"/>
    <p:sldId id="354" r:id="rId7"/>
    <p:sldId id="355" r:id="rId8"/>
    <p:sldId id="361" r:id="rId9"/>
    <p:sldId id="358" r:id="rId10"/>
    <p:sldId id="367" r:id="rId11"/>
    <p:sldId id="304" r:id="rId12"/>
    <p:sldId id="371" r:id="rId13"/>
    <p:sldId id="363" r:id="rId14"/>
    <p:sldId id="364" r:id="rId15"/>
    <p:sldId id="369" r:id="rId16"/>
    <p:sldId id="370" r:id="rId17"/>
    <p:sldId id="357" r:id="rId18"/>
    <p:sldId id="266" r:id="rId19"/>
    <p:sldId id="329" r:id="rId20"/>
    <p:sldId id="350" r:id="rId21"/>
    <p:sldId id="351" r:id="rId22"/>
    <p:sldId id="269" r:id="rId23"/>
  </p:sldIdLst>
  <p:sldSz cx="9144000" cy="6858000" type="screen4x3"/>
  <p:notesSz cx="6735763" cy="98663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oleObject" Target="file:///C:\Users\RDADMIN\Desktop\Backup\PPT%2003.01.2022\bar%207.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RDADMIN\Desktop\Backup\PPT%2003.01.2022\Copy%20of%20bar%206.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RDADMIN\Desktop\Backup\PPT%2003.01.2022\Copy%20of%20bar%206.xlsx" TargetMode="External"/></Relationships>
</file>

<file path=ppt/charts/_rels/chart4.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file:///C:\Users\RDADMIN\Desktop\Backup\PPT%2003.01.2022\bar%207.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Users\RDADMIN\Desktop\Backup\PPT%2003.01.2022\bar%207.xlsx" TargetMode="External"/></Relationships>
</file>

<file path=ppt/charts/_rels/chart6.xml.rels><?xml version="1.0" encoding="UTF-8" standalone="yes"?>
<Relationships xmlns="http://schemas.openxmlformats.org/package/2006/relationships"><Relationship Id="rId3" Type="http://schemas.openxmlformats.org/officeDocument/2006/relationships/oleObject" Target="file:///C:\Users\sreeruph\AppData\Local\Microsoft\Windows\INetCache\Content.Outlook\4PIC4KDW\EXPORT%20REPORT_FSEZ%20ZONE_FY%202022-23.xlsx" TargetMode="External"/><Relationship Id="rId2" Type="http://schemas.microsoft.com/office/2011/relationships/chartColorStyle" Target="colors1.xml"/><Relationship Id="rId1" Type="http://schemas.microsoft.com/office/2011/relationships/chartStyle" Target="style1.xml"/></Relationships>
</file>

<file path=ppt/charts/_rels/chart7.xml.rels><?xml version="1.0" encoding="UTF-8" standalone="yes"?>
<Relationships xmlns="http://schemas.openxmlformats.org/package/2006/relationships"><Relationship Id="rId3" Type="http://schemas.openxmlformats.org/officeDocument/2006/relationships/oleObject" Target="file:///C:\Users\sreeruph\AppData\Local\Microsoft\Windows\INetCache\Content.Outlook\4PIC4KDW\EXPORT%20REPORT_FSEZ%20ZONE_FY%202022-23.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a:defRPr lang="en-US" sz="2000" b="0" i="0" u="none" strike="noStrike" kern="1200" spc="0" baseline="0">
                <a:solidFill>
                  <a:srgbClr val="FF0000"/>
                </a:solidFill>
                <a:latin typeface="+mn-lt"/>
                <a:ea typeface="+mn-ea"/>
                <a:cs typeface="+mn-cs"/>
              </a:defRPr>
            </a:pPr>
            <a:r>
              <a:rPr lang="en-IN" sz="2000">
                <a:solidFill>
                  <a:srgbClr val="FF0000"/>
                </a:solidFill>
              </a:rPr>
              <a:t>Export</a:t>
            </a:r>
            <a:r>
              <a:rPr lang="en-IN" sz="2000" baseline="0">
                <a:solidFill>
                  <a:srgbClr val="FF0000"/>
                </a:solidFill>
              </a:rPr>
              <a:t> from  SEZs of Falta Jurisdiction </a:t>
            </a:r>
          </a:p>
          <a:p>
            <a:pPr algn="ctr">
              <a:defRPr lang="en-US" sz="2000" b="0" i="0" u="none" strike="noStrike" kern="1200" spc="0" baseline="0">
                <a:solidFill>
                  <a:srgbClr val="FF0000"/>
                </a:solidFill>
                <a:latin typeface="+mn-lt"/>
                <a:ea typeface="+mn-ea"/>
                <a:cs typeface="+mn-cs"/>
              </a:defRPr>
            </a:pPr>
            <a:r>
              <a:rPr lang="en-IN" sz="2000" baseline="0">
                <a:solidFill>
                  <a:srgbClr val="FF0000"/>
                </a:solidFill>
              </a:rPr>
              <a:t>(Rs. in Crores) </a:t>
            </a:r>
            <a:endParaRPr lang="en-IN" sz="2000">
              <a:solidFill>
                <a:srgbClr val="FF0000"/>
              </a:solidFill>
            </a:endParaRPr>
          </a:p>
        </c:rich>
      </c:tx>
      <c:layout>
        <c:manualLayout>
          <c:xMode val="edge"/>
          <c:yMode val="edge"/>
          <c:x val="0.25263947511869611"/>
          <c:y val="1.271623256841208E-2"/>
        </c:manualLayout>
      </c:layout>
      <c:overlay val="0"/>
      <c:spPr>
        <a:noFill/>
        <a:ln>
          <a:noFill/>
        </a:ln>
        <a:effectLst/>
      </c:spPr>
    </c:title>
    <c:autoTitleDeleted val="0"/>
    <c:plotArea>
      <c:layout/>
      <c:barChart>
        <c:barDir val="col"/>
        <c:grouping val="clustered"/>
        <c:varyColors val="0"/>
        <c:ser>
          <c:idx val="0"/>
          <c:order val="0"/>
          <c:tx>
            <c:strRef>
              <c:f>Sheet1!$A$2</c:f>
              <c:strCache>
                <c:ptCount val="1"/>
                <c:pt idx="0">
                  <c:v>Merchandise </c:v>
                </c:pt>
              </c:strCache>
            </c:strRef>
          </c:tx>
          <c:spPr>
            <a:solidFill>
              <a:schemeClr val="accent1"/>
            </a:solidFill>
            <a:ln>
              <a:noFill/>
            </a:ln>
            <a:effectLst/>
          </c:spPr>
          <c:invertIfNegative val="0"/>
          <c:dLbls>
            <c:dLbl>
              <c:idx val="6"/>
              <c:layout>
                <c:manualLayout>
                  <c:x val="-1.559594133574368E-2"/>
                  <c:y val="1.00001244280199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6F1-4B67-B038-EB8590392028}"/>
                </c:ext>
              </c:extLst>
            </c:dLbl>
            <c:spPr>
              <a:noFill/>
              <a:ln>
                <a:noFill/>
              </a:ln>
              <a:effectLst/>
            </c:spPr>
            <c:txPr>
              <a:bodyPr rot="0" spcFirstLastPara="1" vertOverflow="ellipsis" vert="horz" wrap="square" lIns="38100" tIns="19050" rIns="38100" bIns="19050" anchor="ctr" anchorCtr="1">
                <a:spAutoFit/>
              </a:bodyPr>
              <a:lstStyle/>
              <a:p>
                <a:pPr>
                  <a:defRPr lang="en-US" sz="16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Sheet1!$B$1:$H$1</c:f>
              <c:strCache>
                <c:ptCount val="7"/>
                <c:pt idx="0">
                  <c:v>2017-18</c:v>
                </c:pt>
                <c:pt idx="1">
                  <c:v>2018-19</c:v>
                </c:pt>
                <c:pt idx="2">
                  <c:v>2019-20</c:v>
                </c:pt>
                <c:pt idx="3">
                  <c:v>2020-21</c:v>
                </c:pt>
                <c:pt idx="4">
                  <c:v>2021-22
  </c:v>
                </c:pt>
                <c:pt idx="5">
                  <c:v>2022-23</c:v>
                </c:pt>
                <c:pt idx="6">
                  <c:v>2023-24 upto 31.07.2023</c:v>
                </c:pt>
              </c:strCache>
            </c:strRef>
          </c:cat>
          <c:val>
            <c:numRef>
              <c:f>Sheet1!$B$2:$H$2</c:f>
              <c:numCache>
                <c:formatCode>General</c:formatCode>
                <c:ptCount val="7"/>
                <c:pt idx="0">
                  <c:v>10229</c:v>
                </c:pt>
                <c:pt idx="1">
                  <c:v>13951</c:v>
                </c:pt>
                <c:pt idx="2">
                  <c:v>11571</c:v>
                </c:pt>
                <c:pt idx="3">
                  <c:v>12880</c:v>
                </c:pt>
                <c:pt idx="4">
                  <c:v>27433</c:v>
                </c:pt>
                <c:pt idx="5">
                  <c:v>27034</c:v>
                </c:pt>
                <c:pt idx="6">
                  <c:v>8499</c:v>
                </c:pt>
              </c:numCache>
            </c:numRef>
          </c:val>
          <c:extLst>
            <c:ext xmlns:c16="http://schemas.microsoft.com/office/drawing/2014/chart" uri="{C3380CC4-5D6E-409C-BE32-E72D297353CC}">
              <c16:uniqueId val="{00000000-27CE-4A54-9911-E76AA342C406}"/>
            </c:ext>
          </c:extLst>
        </c:ser>
        <c:ser>
          <c:idx val="1"/>
          <c:order val="1"/>
          <c:tx>
            <c:strRef>
              <c:f>Sheet1!$A$3</c:f>
              <c:strCache>
                <c:ptCount val="1"/>
                <c:pt idx="0">
                  <c:v>Services</c:v>
                </c:pt>
              </c:strCache>
            </c:strRef>
          </c:tx>
          <c:spPr>
            <a:solidFill>
              <a:schemeClr val="accent2"/>
            </a:solidFill>
            <a:ln>
              <a:noFill/>
            </a:ln>
            <a:effectLst/>
          </c:spPr>
          <c:invertIfNegative val="0"/>
          <c:dLbls>
            <c:dLbl>
              <c:idx val="6"/>
              <c:layout>
                <c:manualLayout>
                  <c:x val="-1.9096655712034141E-2"/>
                  <c:y val="4.073928908050880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6F1-4B67-B038-EB8590392028}"/>
                </c:ext>
              </c:extLst>
            </c:dLbl>
            <c:spPr>
              <a:noFill/>
              <a:ln>
                <a:noFill/>
              </a:ln>
              <a:effectLst/>
            </c:spPr>
            <c:txPr>
              <a:bodyPr rot="0" spcFirstLastPara="1" vertOverflow="ellipsis" vert="horz" wrap="square" lIns="38100" tIns="19050" rIns="38100" bIns="19050" anchor="ctr" anchorCtr="1">
                <a:spAutoFit/>
              </a:bodyPr>
              <a:lstStyle/>
              <a:p>
                <a:pPr>
                  <a:defRPr lang="en-US" sz="16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Sheet1!$B$1:$H$1</c:f>
              <c:strCache>
                <c:ptCount val="7"/>
                <c:pt idx="0">
                  <c:v>2017-18</c:v>
                </c:pt>
                <c:pt idx="1">
                  <c:v>2018-19</c:v>
                </c:pt>
                <c:pt idx="2">
                  <c:v>2019-20</c:v>
                </c:pt>
                <c:pt idx="3">
                  <c:v>2020-21</c:v>
                </c:pt>
                <c:pt idx="4">
                  <c:v>2021-22
  </c:v>
                </c:pt>
                <c:pt idx="5">
                  <c:v>2022-23</c:v>
                </c:pt>
                <c:pt idx="6">
                  <c:v>2023-24 upto 31.07.2023</c:v>
                </c:pt>
              </c:strCache>
            </c:strRef>
          </c:cat>
          <c:val>
            <c:numRef>
              <c:f>Sheet1!$B$3:$H$3</c:f>
              <c:numCache>
                <c:formatCode>General</c:formatCode>
                <c:ptCount val="7"/>
                <c:pt idx="0">
                  <c:v>12391</c:v>
                </c:pt>
                <c:pt idx="1">
                  <c:v>17292</c:v>
                </c:pt>
                <c:pt idx="2">
                  <c:v>18304</c:v>
                </c:pt>
                <c:pt idx="3">
                  <c:v>18847</c:v>
                </c:pt>
                <c:pt idx="4">
                  <c:v>20298</c:v>
                </c:pt>
                <c:pt idx="5">
                  <c:v>21113</c:v>
                </c:pt>
                <c:pt idx="6">
                  <c:v>14317</c:v>
                </c:pt>
              </c:numCache>
            </c:numRef>
          </c:val>
          <c:extLst>
            <c:ext xmlns:c16="http://schemas.microsoft.com/office/drawing/2014/chart" uri="{C3380CC4-5D6E-409C-BE32-E72D297353CC}">
              <c16:uniqueId val="{00000001-27CE-4A54-9911-E76AA342C406}"/>
            </c:ext>
          </c:extLst>
        </c:ser>
        <c:ser>
          <c:idx val="2"/>
          <c:order val="2"/>
          <c:tx>
            <c:strRef>
              <c:f>Sheet1!$A$4</c:f>
              <c:strCache>
                <c:ptCount val="1"/>
                <c:pt idx="0">
                  <c:v>Total Exports</c:v>
                </c:pt>
              </c:strCache>
            </c:strRef>
          </c:tx>
          <c:spPr>
            <a:solidFill>
              <a:schemeClr val="accent3"/>
            </a:solidFill>
            <a:ln>
              <a:noFill/>
            </a:ln>
            <a:effectLst/>
          </c:spPr>
          <c:invertIfNegative val="0"/>
          <c:dLbls>
            <c:dLbl>
              <c:idx val="6"/>
              <c:layout>
                <c:manualLayout>
                  <c:x val="1.1883541295306044E-2"/>
                  <c:y val="-1.851851851851854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6F1-4B67-B038-EB8590392028}"/>
                </c:ext>
              </c:extLst>
            </c:dLbl>
            <c:spPr>
              <a:noFill/>
              <a:ln>
                <a:noFill/>
              </a:ln>
              <a:effectLst/>
            </c:spPr>
            <c:txPr>
              <a:bodyPr rot="0" spcFirstLastPara="1" vertOverflow="ellipsis" vert="horz" wrap="square" lIns="38100" tIns="19050" rIns="38100" bIns="19050" anchor="ctr" anchorCtr="1">
                <a:spAutoFit/>
              </a:bodyPr>
              <a:lstStyle/>
              <a:p>
                <a:pPr>
                  <a:defRPr lang="en-US" sz="16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Sheet1!$B$1:$H$1</c:f>
              <c:strCache>
                <c:ptCount val="7"/>
                <c:pt idx="0">
                  <c:v>2017-18</c:v>
                </c:pt>
                <c:pt idx="1">
                  <c:v>2018-19</c:v>
                </c:pt>
                <c:pt idx="2">
                  <c:v>2019-20</c:v>
                </c:pt>
                <c:pt idx="3">
                  <c:v>2020-21</c:v>
                </c:pt>
                <c:pt idx="4">
                  <c:v>2021-22
  </c:v>
                </c:pt>
                <c:pt idx="5">
                  <c:v>2022-23</c:v>
                </c:pt>
                <c:pt idx="6">
                  <c:v>2023-24 upto 31.07.2023</c:v>
                </c:pt>
              </c:strCache>
            </c:strRef>
          </c:cat>
          <c:val>
            <c:numRef>
              <c:f>Sheet1!$B$4:$H$4</c:f>
              <c:numCache>
                <c:formatCode>General</c:formatCode>
                <c:ptCount val="7"/>
                <c:pt idx="0">
                  <c:v>22620</c:v>
                </c:pt>
                <c:pt idx="1">
                  <c:v>31243</c:v>
                </c:pt>
                <c:pt idx="2">
                  <c:v>29875</c:v>
                </c:pt>
                <c:pt idx="3">
                  <c:v>31727</c:v>
                </c:pt>
                <c:pt idx="4">
                  <c:v>47731</c:v>
                </c:pt>
                <c:pt idx="5">
                  <c:v>48147</c:v>
                </c:pt>
                <c:pt idx="6">
                  <c:v>22816</c:v>
                </c:pt>
              </c:numCache>
            </c:numRef>
          </c:val>
          <c:extLst>
            <c:ext xmlns:c16="http://schemas.microsoft.com/office/drawing/2014/chart" uri="{C3380CC4-5D6E-409C-BE32-E72D297353CC}">
              <c16:uniqueId val="{00000002-27CE-4A54-9911-E76AA342C406}"/>
            </c:ext>
          </c:extLst>
        </c:ser>
        <c:dLbls>
          <c:showLegendKey val="0"/>
          <c:showVal val="0"/>
          <c:showCatName val="0"/>
          <c:showSerName val="0"/>
          <c:showPercent val="0"/>
          <c:showBubbleSize val="0"/>
        </c:dLbls>
        <c:gapWidth val="219"/>
        <c:overlap val="-27"/>
        <c:axId val="40764160"/>
        <c:axId val="40765696"/>
      </c:barChart>
      <c:catAx>
        <c:axId val="407641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600" b="0" i="0" u="none" strike="noStrike" kern="1200" baseline="0">
                <a:solidFill>
                  <a:schemeClr val="tx1">
                    <a:lumMod val="65000"/>
                    <a:lumOff val="35000"/>
                  </a:schemeClr>
                </a:solidFill>
                <a:latin typeface="+mn-lt"/>
                <a:ea typeface="+mn-ea"/>
                <a:cs typeface="+mn-cs"/>
              </a:defRPr>
            </a:pPr>
            <a:endParaRPr lang="en-US"/>
          </a:p>
        </c:txPr>
        <c:crossAx val="40765696"/>
        <c:crosses val="autoZero"/>
        <c:auto val="1"/>
        <c:lblAlgn val="ctr"/>
        <c:lblOffset val="100"/>
        <c:noMultiLvlLbl val="0"/>
      </c:catAx>
      <c:valAx>
        <c:axId val="407656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1600" b="0" i="0" u="none" strike="noStrike" kern="1200" baseline="0">
                <a:solidFill>
                  <a:schemeClr val="tx1">
                    <a:lumMod val="65000"/>
                    <a:lumOff val="35000"/>
                  </a:schemeClr>
                </a:solidFill>
                <a:latin typeface="+mn-lt"/>
                <a:ea typeface="+mn-ea"/>
                <a:cs typeface="+mn-cs"/>
              </a:defRPr>
            </a:pPr>
            <a:endParaRPr lang="en-US"/>
          </a:p>
        </c:txPr>
        <c:crossAx val="407641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en-US" sz="2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lang="en-US" sz="2000">
                <a:solidFill>
                  <a:srgbClr val="FF0000"/>
                </a:solidFill>
              </a:defRPr>
            </a:pPr>
            <a:r>
              <a:rPr sz="2000">
                <a:solidFill>
                  <a:srgbClr val="FF0000"/>
                </a:solidFill>
              </a:rPr>
              <a:t>Cumulative 
Investment in FSEZ Rs in Crores</a:t>
            </a:r>
          </a:p>
        </c:rich>
      </c:tx>
      <c:overlay val="0"/>
    </c:title>
    <c:autoTitleDeleted val="0"/>
    <c:plotArea>
      <c:layout/>
      <c:lineChart>
        <c:grouping val="standard"/>
        <c:varyColors val="0"/>
        <c:ser>
          <c:idx val="0"/>
          <c:order val="0"/>
          <c:tx>
            <c:strRef>
              <c:f>Sheet5!$A$2</c:f>
              <c:strCache>
                <c:ptCount val="1"/>
                <c:pt idx="0">
                  <c:v>Cumulative 
Investment</c:v>
                </c:pt>
              </c:strCache>
            </c:strRef>
          </c:tx>
          <c:marker>
            <c:symbol val="none"/>
          </c:marker>
          <c:dLbls>
            <c:dLbl>
              <c:idx val="3"/>
              <c:layout>
                <c:manualLayout>
                  <c:x val="-1.7676767676767683E-2"/>
                  <c:y val="3.703703703703705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773-402A-80FA-64AD5ED1741F}"/>
                </c:ext>
              </c:extLst>
            </c:dLbl>
            <c:dLbl>
              <c:idx val="4"/>
              <c:layout>
                <c:manualLayout>
                  <c:x val="-7.5757575757575881E-3"/>
                  <c:y val="1.38888888888889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773-402A-80FA-64AD5ED1741F}"/>
                </c:ext>
              </c:extLst>
            </c:dLbl>
            <c:spPr>
              <a:noFill/>
              <a:ln>
                <a:noFill/>
              </a:ln>
              <a:effectLst/>
            </c:spPr>
            <c:txPr>
              <a:bodyPr/>
              <a:lstStyle/>
              <a:p>
                <a:pPr>
                  <a:defRPr lang="en-US" sz="1600">
                    <a:solidFill>
                      <a:srgbClr val="FF0000"/>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Sheet5!$B$1:$G$1</c:f>
              <c:strCache>
                <c:ptCount val="6"/>
                <c:pt idx="0">
                  <c:v>2017-18</c:v>
                </c:pt>
                <c:pt idx="1">
                  <c:v>2018-19</c:v>
                </c:pt>
                <c:pt idx="2">
                  <c:v>2019-20</c:v>
                </c:pt>
                <c:pt idx="3">
                  <c:v>2020-21</c:v>
                </c:pt>
                <c:pt idx="4">
                  <c:v>2021-22</c:v>
                </c:pt>
                <c:pt idx="5">
                  <c:v>22-23 
(upto 31.03.2023)</c:v>
                </c:pt>
              </c:strCache>
            </c:strRef>
          </c:cat>
          <c:val>
            <c:numRef>
              <c:f>Sheet5!$B$2:$G$2</c:f>
              <c:numCache>
                <c:formatCode>General</c:formatCode>
                <c:ptCount val="6"/>
                <c:pt idx="0">
                  <c:v>20007</c:v>
                </c:pt>
                <c:pt idx="1">
                  <c:v>21861.439999999966</c:v>
                </c:pt>
                <c:pt idx="2">
                  <c:v>23252</c:v>
                </c:pt>
                <c:pt idx="3">
                  <c:v>27385.18</c:v>
                </c:pt>
                <c:pt idx="4">
                  <c:v>27409.698999999997</c:v>
                </c:pt>
                <c:pt idx="5">
                  <c:v>27409.699199999992</c:v>
                </c:pt>
              </c:numCache>
            </c:numRef>
          </c:val>
          <c:smooth val="0"/>
          <c:extLst>
            <c:ext xmlns:c16="http://schemas.microsoft.com/office/drawing/2014/chart" uri="{C3380CC4-5D6E-409C-BE32-E72D297353CC}">
              <c16:uniqueId val="{00000000-9654-4AF9-A99C-06BF0BFF8D4C}"/>
            </c:ext>
          </c:extLst>
        </c:ser>
        <c:dLbls>
          <c:showLegendKey val="0"/>
          <c:showVal val="0"/>
          <c:showCatName val="0"/>
          <c:showSerName val="0"/>
          <c:showPercent val="0"/>
          <c:showBubbleSize val="0"/>
        </c:dLbls>
        <c:smooth val="0"/>
        <c:axId val="40667776"/>
        <c:axId val="40808832"/>
      </c:lineChart>
      <c:catAx>
        <c:axId val="40667776"/>
        <c:scaling>
          <c:orientation val="minMax"/>
        </c:scaling>
        <c:delete val="0"/>
        <c:axPos val="b"/>
        <c:numFmt formatCode="General" sourceLinked="1"/>
        <c:majorTickMark val="out"/>
        <c:minorTickMark val="none"/>
        <c:tickLblPos val="nextTo"/>
        <c:txPr>
          <a:bodyPr/>
          <a:lstStyle/>
          <a:p>
            <a:pPr>
              <a:defRPr lang="en-US" sz="1600">
                <a:solidFill>
                  <a:srgbClr val="0070C0"/>
                </a:solidFill>
              </a:defRPr>
            </a:pPr>
            <a:endParaRPr lang="en-US"/>
          </a:p>
        </c:txPr>
        <c:crossAx val="40808832"/>
        <c:crosses val="autoZero"/>
        <c:auto val="1"/>
        <c:lblAlgn val="ctr"/>
        <c:lblOffset val="100"/>
        <c:noMultiLvlLbl val="0"/>
      </c:catAx>
      <c:valAx>
        <c:axId val="40808832"/>
        <c:scaling>
          <c:orientation val="minMax"/>
        </c:scaling>
        <c:delete val="0"/>
        <c:axPos val="l"/>
        <c:majorGridlines/>
        <c:numFmt formatCode="General" sourceLinked="1"/>
        <c:majorTickMark val="out"/>
        <c:minorTickMark val="none"/>
        <c:tickLblPos val="nextTo"/>
        <c:txPr>
          <a:bodyPr/>
          <a:lstStyle/>
          <a:p>
            <a:pPr>
              <a:defRPr lang="en-US" sz="1200">
                <a:solidFill>
                  <a:srgbClr val="FF0000"/>
                </a:solidFill>
              </a:defRPr>
            </a:pPr>
            <a:endParaRPr lang="en-US"/>
          </a:p>
        </c:txPr>
        <c:crossAx val="40667776"/>
        <c:crosses val="autoZero"/>
        <c:crossBetween val="between"/>
      </c:valAx>
    </c:plotArea>
    <c:legend>
      <c:legendPos val="r"/>
      <c:overlay val="0"/>
      <c:txPr>
        <a:bodyPr/>
        <a:lstStyle/>
        <a:p>
          <a:pPr>
            <a:defRPr lang="en-US" sz="1600"/>
          </a:pPr>
          <a:endParaRPr lang="en-US"/>
        </a:p>
      </c:txPr>
    </c:legend>
    <c:plotVisOnly val="1"/>
    <c:dispBlanksAs val="gap"/>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a:t>Direct Employment in FSEZ (Rs. In </a:t>
            </a:r>
            <a:r>
              <a:rPr lang="en-US" dirty="0" err="1"/>
              <a:t>Crores</a:t>
            </a:r>
            <a:r>
              <a:rPr lang="en-US" dirty="0"/>
              <a:t>)</a:t>
            </a:r>
          </a:p>
        </c:rich>
      </c:tx>
      <c:overlay val="0"/>
    </c:title>
    <c:autoTitleDeleted val="0"/>
    <c:plotArea>
      <c:layout/>
      <c:lineChart>
        <c:grouping val="standard"/>
        <c:varyColors val="0"/>
        <c:ser>
          <c:idx val="0"/>
          <c:order val="0"/>
          <c:tx>
            <c:strRef>
              <c:f>Sheet6!$A$2</c:f>
              <c:strCache>
                <c:ptCount val="1"/>
                <c:pt idx="0">
                  <c:v>Cumulative 
Investment</c:v>
                </c:pt>
              </c:strCache>
            </c:strRef>
          </c:tx>
          <c:cat>
            <c:strRef>
              <c:f>Sheet6!$B$1:$G$1</c:f>
              <c:strCache>
                <c:ptCount val="6"/>
                <c:pt idx="0">
                  <c:v>2017-18</c:v>
                </c:pt>
                <c:pt idx="1">
                  <c:v>2018-19</c:v>
                </c:pt>
                <c:pt idx="2">
                  <c:v>2019-20</c:v>
                </c:pt>
                <c:pt idx="3">
                  <c:v>2020-21</c:v>
                </c:pt>
                <c:pt idx="4">
                  <c:v>2021-22</c:v>
                </c:pt>
                <c:pt idx="5">
                  <c:v>2022-23 
(upto 31.03.2023)</c:v>
                </c:pt>
              </c:strCache>
            </c:strRef>
          </c:cat>
          <c:val>
            <c:numRef>
              <c:f>Sheet6!$B$2:$G$2</c:f>
            </c:numRef>
          </c:val>
          <c:smooth val="0"/>
          <c:extLst>
            <c:ext xmlns:c16="http://schemas.microsoft.com/office/drawing/2014/chart" uri="{C3380CC4-5D6E-409C-BE32-E72D297353CC}">
              <c16:uniqueId val="{00000000-E22C-42FD-81A9-F51B6BABB952}"/>
            </c:ext>
          </c:extLst>
        </c:ser>
        <c:ser>
          <c:idx val="1"/>
          <c:order val="1"/>
          <c:tx>
            <c:strRef>
              <c:f>Sheet6!$A$3</c:f>
              <c:strCache>
                <c:ptCount val="1"/>
                <c:pt idx="0">
                  <c:v>Direct Employment</c:v>
                </c:pt>
              </c:strCache>
            </c:strRef>
          </c:tx>
          <c:marker>
            <c:symbol val="none"/>
          </c:marker>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Sheet6!$B$1:$G$1</c:f>
              <c:strCache>
                <c:ptCount val="6"/>
                <c:pt idx="0">
                  <c:v>2017-18</c:v>
                </c:pt>
                <c:pt idx="1">
                  <c:v>2018-19</c:v>
                </c:pt>
                <c:pt idx="2">
                  <c:v>2019-20</c:v>
                </c:pt>
                <c:pt idx="3">
                  <c:v>2020-21</c:v>
                </c:pt>
                <c:pt idx="4">
                  <c:v>2021-22</c:v>
                </c:pt>
                <c:pt idx="5">
                  <c:v>2022-23 
(upto 31.03.2023)</c:v>
                </c:pt>
              </c:strCache>
            </c:strRef>
          </c:cat>
          <c:val>
            <c:numRef>
              <c:f>Sheet6!$B$3:$G$3</c:f>
              <c:numCache>
                <c:formatCode>General</c:formatCode>
                <c:ptCount val="6"/>
                <c:pt idx="0">
                  <c:v>87755</c:v>
                </c:pt>
                <c:pt idx="1">
                  <c:v>88159</c:v>
                </c:pt>
                <c:pt idx="2">
                  <c:v>88630</c:v>
                </c:pt>
                <c:pt idx="3">
                  <c:v>99161</c:v>
                </c:pt>
                <c:pt idx="4">
                  <c:v>102832</c:v>
                </c:pt>
                <c:pt idx="5">
                  <c:v>96245</c:v>
                </c:pt>
              </c:numCache>
            </c:numRef>
          </c:val>
          <c:smooth val="0"/>
          <c:extLst>
            <c:ext xmlns:c16="http://schemas.microsoft.com/office/drawing/2014/chart" uri="{C3380CC4-5D6E-409C-BE32-E72D297353CC}">
              <c16:uniqueId val="{00000001-E22C-42FD-81A9-F51B6BABB952}"/>
            </c:ext>
          </c:extLst>
        </c:ser>
        <c:dLbls>
          <c:showLegendKey val="0"/>
          <c:showVal val="0"/>
          <c:showCatName val="0"/>
          <c:showSerName val="0"/>
          <c:showPercent val="0"/>
          <c:showBubbleSize val="0"/>
        </c:dLbls>
        <c:smooth val="0"/>
        <c:axId val="42481152"/>
        <c:axId val="42482688"/>
      </c:lineChart>
      <c:catAx>
        <c:axId val="42481152"/>
        <c:scaling>
          <c:orientation val="minMax"/>
        </c:scaling>
        <c:delete val="0"/>
        <c:axPos val="b"/>
        <c:numFmt formatCode="General" sourceLinked="0"/>
        <c:majorTickMark val="out"/>
        <c:minorTickMark val="none"/>
        <c:tickLblPos val="nextTo"/>
        <c:txPr>
          <a:bodyPr/>
          <a:lstStyle/>
          <a:p>
            <a:pPr>
              <a:defRPr>
                <a:solidFill>
                  <a:srgbClr val="0070C0"/>
                </a:solidFill>
              </a:defRPr>
            </a:pPr>
            <a:endParaRPr lang="en-US"/>
          </a:p>
        </c:txPr>
        <c:crossAx val="42482688"/>
        <c:crosses val="autoZero"/>
        <c:auto val="1"/>
        <c:lblAlgn val="ctr"/>
        <c:lblOffset val="100"/>
        <c:noMultiLvlLbl val="0"/>
      </c:catAx>
      <c:valAx>
        <c:axId val="42482688"/>
        <c:scaling>
          <c:orientation val="minMax"/>
        </c:scaling>
        <c:delete val="0"/>
        <c:axPos val="l"/>
        <c:majorGridlines/>
        <c:numFmt formatCode="General" sourceLinked="1"/>
        <c:majorTickMark val="out"/>
        <c:minorTickMark val="none"/>
        <c:tickLblPos val="nextTo"/>
        <c:crossAx val="42481152"/>
        <c:crosses val="autoZero"/>
        <c:crossBetween val="between"/>
      </c:valAx>
    </c:plotArea>
    <c:legend>
      <c:legendPos val="r"/>
      <c:overlay val="0"/>
    </c:legend>
    <c:plotVisOnly val="1"/>
    <c:dispBlanksAs val="gap"/>
    <c:showDLblsOverMax val="0"/>
  </c:chart>
  <c:txPr>
    <a:bodyPr/>
    <a:lstStyle/>
    <a:p>
      <a:pPr>
        <a:defRPr sz="1400">
          <a:solidFill>
            <a:srgbClr val="FF0000"/>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pieChart>
        <c:varyColors val="1"/>
        <c:ser>
          <c:idx val="0"/>
          <c:order val="0"/>
          <c:spPr>
            <a:ln w="6350"/>
          </c:spPr>
          <c:dPt>
            <c:idx val="0"/>
            <c:bubble3D val="0"/>
            <c:explosion val="6"/>
            <c:extLst>
              <c:ext xmlns:c16="http://schemas.microsoft.com/office/drawing/2014/chart" uri="{C3380CC4-5D6E-409C-BE32-E72D297353CC}">
                <c16:uniqueId val="{00000000-7A2F-4910-A453-F0C859C499EC}"/>
              </c:ext>
            </c:extLst>
          </c:dPt>
          <c:dLbls>
            <c:dLbl>
              <c:idx val="1"/>
              <c:layout>
                <c:manualLayout>
                  <c:x val="-3.5302537182852152E-2"/>
                  <c:y val="1.3352352695043555E-2"/>
                </c:manualLayout>
              </c:layou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7A2F-4910-A453-F0C859C499EC}"/>
                </c:ext>
              </c:extLst>
            </c:dLbl>
            <c:dLbl>
              <c:idx val="2"/>
              <c:layout>
                <c:manualLayout>
                  <c:x val="6.0481277340332533E-2"/>
                  <c:y val="-7.9248101233722598E-2"/>
                </c:manualLayout>
              </c:layou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2-7A2F-4910-A453-F0C859C499EC}"/>
                </c:ext>
              </c:extLst>
            </c:dLbl>
            <c:spPr>
              <a:noFill/>
              <a:ln>
                <a:noFill/>
              </a:ln>
              <a:effectLst/>
            </c:spPr>
            <c:txPr>
              <a:bodyPr/>
              <a:lstStyle/>
              <a:p>
                <a:pPr>
                  <a:defRPr sz="2000"/>
                </a:pPr>
                <a:endParaRPr lang="en-US"/>
              </a:p>
            </c:txPr>
            <c:showLegendKey val="0"/>
            <c:showVal val="1"/>
            <c:showCatName val="0"/>
            <c:showSerName val="0"/>
            <c:showPercent val="1"/>
            <c:showBubbleSize val="0"/>
            <c:showLeaderLines val="1"/>
            <c:extLst>
              <c:ext xmlns:c15="http://schemas.microsoft.com/office/drawing/2012/chart" uri="{CE6537A1-D6FC-4f65-9D91-7224C49458BB}"/>
            </c:extLst>
          </c:dLbls>
          <c:cat>
            <c:strRef>
              <c:f>Sheet9!$A$2:$A$6</c:f>
              <c:strCache>
                <c:ptCount val="5"/>
                <c:pt idx="0">
                  <c:v>FALTA SPECIAL ECONOMIC ZONE</c:v>
                </c:pt>
                <c:pt idx="1">
                  <c:v>MANIKANCHAN SPECIAL ECONOMIC ZONE</c:v>
                </c:pt>
                <c:pt idx="2">
                  <c:v>SARAF AGENCIES PVT. LTD.</c:v>
                </c:pt>
                <c:pt idx="3">
                  <c:v>VEDANTA ALUMINIUM LTD.</c:v>
                </c:pt>
                <c:pt idx="4">
                  <c:v>TATA STEEL SPECIAL ECONOMIC ZONE LIMITED</c:v>
                </c:pt>
              </c:strCache>
            </c:strRef>
          </c:cat>
          <c:val>
            <c:numRef>
              <c:f>Sheet9!$B$2:$B$6</c:f>
              <c:numCache>
                <c:formatCode>"₹"\ #,##0</c:formatCode>
                <c:ptCount val="5"/>
                <c:pt idx="0">
                  <c:v>743.6734270000004</c:v>
                </c:pt>
                <c:pt idx="1">
                  <c:v>312.2736339999999</c:v>
                </c:pt>
                <c:pt idx="2">
                  <c:v>28.649235000000001</c:v>
                </c:pt>
                <c:pt idx="3">
                  <c:v>7409.6719930000017</c:v>
                </c:pt>
                <c:pt idx="4">
                  <c:v>4.4893400000000021</c:v>
                </c:pt>
              </c:numCache>
            </c:numRef>
          </c:val>
          <c:extLst>
            <c:ext xmlns:c16="http://schemas.microsoft.com/office/drawing/2014/chart" uri="{C3380CC4-5D6E-409C-BE32-E72D297353CC}">
              <c16:uniqueId val="{00000003-7A2F-4910-A453-F0C859C499EC}"/>
            </c:ext>
          </c:extLst>
        </c:ser>
        <c:dLbls>
          <c:showLegendKey val="0"/>
          <c:showVal val="0"/>
          <c:showCatName val="0"/>
          <c:showSerName val="0"/>
          <c:showPercent val="0"/>
          <c:showBubbleSize val="0"/>
          <c:showLeaderLines val="1"/>
        </c:dLbls>
        <c:firstSliceAng val="0"/>
      </c:pieChart>
    </c:plotArea>
    <c:legend>
      <c:legendPos val="r"/>
      <c:layout>
        <c:manualLayout>
          <c:xMode val="edge"/>
          <c:yMode val="edge"/>
          <c:x val="0.67199882505661612"/>
          <c:y val="0.14579519405877453"/>
          <c:w val="0.31356074173038884"/>
          <c:h val="0.75769813018827914"/>
        </c:manualLayout>
      </c:layout>
      <c:overlay val="0"/>
      <c:txPr>
        <a:bodyPr/>
        <a:lstStyle/>
        <a:p>
          <a:pPr>
            <a:defRPr sz="1600"/>
          </a:pPr>
          <a:endParaRPr lang="en-US"/>
        </a:p>
      </c:txPr>
    </c:legend>
    <c:plotVisOnly val="1"/>
    <c:dispBlanksAs val="gap"/>
    <c:showDLblsOverMax val="0"/>
  </c:chart>
  <c:externalData r:id="rId1">
    <c:autoUpdate val="0"/>
  </c:externalData>
  <c:userShapes r:id="rId2"/>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30"/>
      <c:rotY val="0"/>
      <c:rAngAx val="0"/>
    </c:view3D>
    <c:floor>
      <c:thickness val="0"/>
    </c:floor>
    <c:sideWall>
      <c:thickness val="0"/>
    </c:sideWall>
    <c:backWall>
      <c:thickness val="0"/>
    </c:backWall>
    <c:plotArea>
      <c:layout/>
      <c:pie3DChart>
        <c:varyColors val="1"/>
        <c:ser>
          <c:idx val="0"/>
          <c:order val="0"/>
          <c:explosion val="25"/>
          <c:dLbls>
            <c:spPr>
              <a:noFill/>
              <a:ln>
                <a:noFill/>
              </a:ln>
              <a:effectLst/>
            </c:spPr>
            <c:txPr>
              <a:bodyPr/>
              <a:lstStyle/>
              <a:p>
                <a:pPr>
                  <a:defRPr sz="2000"/>
                </a:pPr>
                <a:endParaRPr lang="en-US"/>
              </a:p>
            </c:txPr>
            <c:showLegendKey val="0"/>
            <c:showVal val="1"/>
            <c:showCatName val="0"/>
            <c:showSerName val="0"/>
            <c:showPercent val="1"/>
            <c:showBubbleSize val="0"/>
            <c:showLeaderLines val="1"/>
            <c:extLst>
              <c:ext xmlns:c15="http://schemas.microsoft.com/office/drawing/2012/chart" uri="{CE6537A1-D6FC-4f65-9D91-7224C49458BB}"/>
            </c:extLst>
          </c:dLbls>
          <c:cat>
            <c:strRef>
              <c:f>Sheet10!$A$2:$A$8</c:f>
              <c:strCache>
                <c:ptCount val="7"/>
                <c:pt idx="0">
                  <c:v>Candor Kolkata One Hi-tech Structures Pvt Ltd</c:v>
                </c:pt>
                <c:pt idx="1">
                  <c:v>DLF Limited (IT/ITES SEZ)</c:v>
                </c:pt>
                <c:pt idx="2">
                  <c:v>Kolkata IT Park</c:v>
                </c:pt>
                <c:pt idx="3">
                  <c:v>Orissa Industrial Infrastructure Development Corporation (IDCO) (IT/ITES SEZ)</c:v>
                </c:pt>
                <c:pt idx="4">
                  <c:v>Orissa Industrial Infrastructure Development Corporation (IDCO)IT knowledge park</c:v>
                </c:pt>
                <c:pt idx="5">
                  <c:v>TATA CONSULTANCY SERVICES</c:v>
                </c:pt>
                <c:pt idx="6">
                  <c:v>Wipro Special Economic Zone</c:v>
                </c:pt>
              </c:strCache>
            </c:strRef>
          </c:cat>
          <c:val>
            <c:numRef>
              <c:f>Sheet10!$B$2:$B$8</c:f>
              <c:numCache>
                <c:formatCode>"₹"\ #,##0</c:formatCode>
                <c:ptCount val="7"/>
                <c:pt idx="0">
                  <c:v>2244.8696659999987</c:v>
                </c:pt>
                <c:pt idx="1">
                  <c:v>608.3135249999998</c:v>
                </c:pt>
                <c:pt idx="2">
                  <c:v>115.21947700000001</c:v>
                </c:pt>
                <c:pt idx="3">
                  <c:v>672.36844500000018</c:v>
                </c:pt>
                <c:pt idx="4">
                  <c:v>6660.8459589999993</c:v>
                </c:pt>
                <c:pt idx="5">
                  <c:v>3690.8444640000007</c:v>
                </c:pt>
                <c:pt idx="6">
                  <c:v>324.28757899999977</c:v>
                </c:pt>
              </c:numCache>
            </c:numRef>
          </c:val>
          <c:extLst>
            <c:ext xmlns:c16="http://schemas.microsoft.com/office/drawing/2014/chart" uri="{C3380CC4-5D6E-409C-BE32-E72D297353CC}">
              <c16:uniqueId val="{00000000-BD39-419B-993E-4A5A52E80E17}"/>
            </c:ext>
          </c:extLst>
        </c:ser>
        <c:dLbls>
          <c:showLegendKey val="0"/>
          <c:showVal val="0"/>
          <c:showCatName val="0"/>
          <c:showSerName val="0"/>
          <c:showPercent val="0"/>
          <c:showBubbleSize val="0"/>
          <c:showLeaderLines val="1"/>
        </c:dLbls>
      </c:pie3DChart>
    </c:plotArea>
    <c:legend>
      <c:legendPos val="r"/>
      <c:layout>
        <c:manualLayout>
          <c:xMode val="edge"/>
          <c:yMode val="edge"/>
          <c:x val="0.64166666666666672"/>
          <c:y val="5.8279228825806127E-2"/>
          <c:w val="0.34166666666666834"/>
          <c:h val="0.87165655389601404"/>
        </c:manualLayout>
      </c:layout>
      <c:overlay val="0"/>
      <c:txPr>
        <a:bodyPr/>
        <a:lstStyle/>
        <a:p>
          <a:pPr>
            <a:defRPr sz="1600"/>
          </a:pPr>
          <a:endParaRPr lang="en-US"/>
        </a:p>
      </c:txPr>
    </c:legend>
    <c:plotVisOnly val="1"/>
    <c:dispBlanksAs val="gap"/>
    <c:showDLblsOverMax val="0"/>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r>
              <a:rPr lang="en-IN" dirty="0"/>
              <a:t>Sector</a:t>
            </a:r>
            <a:r>
              <a:rPr lang="en-IN" baseline="0" dirty="0"/>
              <a:t> Wise Export</a:t>
            </a:r>
            <a:endParaRPr lang="en-IN" dirty="0"/>
          </a:p>
        </c:rich>
      </c:tx>
      <c:overlay val="0"/>
      <c:spPr>
        <a:noFill/>
        <a:ln>
          <a:noFill/>
        </a:ln>
        <a:effectLst/>
      </c:spPr>
      <c:txPr>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7610-4B54-A3BA-286F419E61C8}"/>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7610-4B54-A3BA-286F419E61C8}"/>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7610-4B54-A3BA-286F419E61C8}"/>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7610-4B54-A3BA-286F419E61C8}"/>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7610-4B54-A3BA-286F419E61C8}"/>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7610-4B54-A3BA-286F419E61C8}"/>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7610-4B54-A3BA-286F419E61C8}"/>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7610-4B54-A3BA-286F419E61C8}"/>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11-7610-4B54-A3BA-286F419E61C8}"/>
              </c:ext>
            </c:extLst>
          </c:dPt>
          <c:dPt>
            <c:idx val="9"/>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13-7610-4B54-A3BA-286F419E61C8}"/>
              </c:ext>
            </c:extLst>
          </c:dPt>
          <c:dPt>
            <c:idx val="10"/>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015-7610-4B54-A3BA-286F419E61C8}"/>
              </c:ext>
            </c:extLst>
          </c:dPt>
          <c:dPt>
            <c:idx val="11"/>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017-7610-4B54-A3BA-286F419E61C8}"/>
              </c:ext>
            </c:extLst>
          </c:dPt>
          <c:dPt>
            <c:idx val="12"/>
            <c:bubble3D val="0"/>
            <c:spPr>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019-7610-4B54-A3BA-286F419E61C8}"/>
              </c:ext>
            </c:extLst>
          </c:dPt>
          <c:dLbls>
            <c:spPr>
              <a:noFill/>
              <a:ln>
                <a:noFill/>
              </a:ln>
              <a:effectLst/>
            </c:spPr>
            <c:txPr>
              <a:bodyPr rot="0" spcFirstLastPara="1" vertOverflow="ellipsis" vert="horz" wrap="square" lIns="38100" tIns="19050" rIns="38100" bIns="19050" anchor="ctr" anchorCtr="1">
                <a:spAutoFit/>
              </a:bodyPr>
              <a:lstStyle/>
              <a:p>
                <a:pPr>
                  <a:defRPr lang="en-US" sz="14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Sheet1!$A$1:$A$13</c:f>
              <c:strCache>
                <c:ptCount val="13"/>
                <c:pt idx="0">
                  <c:v>Metal</c:v>
                </c:pt>
                <c:pt idx="1">
                  <c:v>Gems And Jewellery</c:v>
                </c:pt>
                <c:pt idx="2">
                  <c:v>Energy including Captive, Solar</c:v>
                </c:pt>
                <c:pt idx="3">
                  <c:v>Textiles &amp; Garments</c:v>
                </c:pt>
                <c:pt idx="4">
                  <c:v>Trading And Services</c:v>
                </c:pt>
                <c:pt idx="5">
                  <c:v>Engineering, Electonics and Hardware</c:v>
                </c:pt>
                <c:pt idx="6">
                  <c:v>Food and Agro industry</c:v>
                </c:pt>
                <c:pt idx="7">
                  <c:v>Plastic and Rubber</c:v>
                </c:pt>
                <c:pt idx="8">
                  <c:v>Chemicals</c:v>
                </c:pt>
                <c:pt idx="9">
                  <c:v>Leather, footwear and sports goods</c:v>
                </c:pt>
                <c:pt idx="10">
                  <c:v>IT/ITES</c:v>
                </c:pt>
                <c:pt idx="11">
                  <c:v>Packaging</c:v>
                </c:pt>
                <c:pt idx="12">
                  <c:v>Handicraft</c:v>
                </c:pt>
              </c:strCache>
            </c:strRef>
          </c:cat>
          <c:val>
            <c:numRef>
              <c:f>Sheet1!$B$1:$B$13</c:f>
              <c:numCache>
                <c:formatCode>"₹"\ #,##0</c:formatCode>
                <c:ptCount val="13"/>
                <c:pt idx="0">
                  <c:v>24013.036133000005</c:v>
                </c:pt>
                <c:pt idx="1">
                  <c:v>1253.8204009999977</c:v>
                </c:pt>
                <c:pt idx="2">
                  <c:v>627.48122399999897</c:v>
                </c:pt>
                <c:pt idx="3">
                  <c:v>343.53731999999917</c:v>
                </c:pt>
                <c:pt idx="4">
                  <c:v>336.70240999999993</c:v>
                </c:pt>
                <c:pt idx="5">
                  <c:v>224.01849000000001</c:v>
                </c:pt>
                <c:pt idx="6">
                  <c:v>168.82738300000025</c:v>
                </c:pt>
                <c:pt idx="7">
                  <c:v>45.335943000000007</c:v>
                </c:pt>
                <c:pt idx="8">
                  <c:v>9.3461660000000002</c:v>
                </c:pt>
                <c:pt idx="9">
                  <c:v>6.6169999999999956</c:v>
                </c:pt>
                <c:pt idx="10">
                  <c:v>21113</c:v>
                </c:pt>
                <c:pt idx="11">
                  <c:v>0.40382100000000032</c:v>
                </c:pt>
                <c:pt idx="12">
                  <c:v>0</c:v>
                </c:pt>
              </c:numCache>
            </c:numRef>
          </c:val>
          <c:extLst>
            <c:ext xmlns:c16="http://schemas.microsoft.com/office/drawing/2014/chart" uri="{C3380CC4-5D6E-409C-BE32-E72D297353CC}">
              <c16:uniqueId val="{0000001A-7610-4B54-A3BA-286F419E61C8}"/>
            </c:ext>
          </c:extLst>
        </c:ser>
        <c:dLbls>
          <c:showLegendKey val="0"/>
          <c:showVal val="0"/>
          <c:showCatName val="0"/>
          <c:showSerName val="0"/>
          <c:showPercent val="0"/>
          <c:showBubbleSize val="0"/>
          <c:showLeaderLines val="1"/>
        </c:dLbls>
        <c:firstSliceAng val="0"/>
      </c:pieChart>
      <c:spPr>
        <a:noFill/>
        <a:ln>
          <a:noFill/>
        </a:ln>
        <a:effectLst/>
      </c:spPr>
    </c:plotArea>
    <c:legend>
      <c:legendPos val="b"/>
      <c:layout>
        <c:manualLayout>
          <c:xMode val="edge"/>
          <c:yMode val="edge"/>
          <c:x val="0.77283429860450514"/>
          <c:y val="3.7860676660069363E-2"/>
          <c:w val="0.20888524463465416"/>
          <c:h val="0.94907493131764509"/>
        </c:manualLayout>
      </c:layout>
      <c:overlay val="0"/>
      <c:spPr>
        <a:noFill/>
        <a:ln>
          <a:noFill/>
        </a:ln>
        <a:effectLst/>
      </c:spPr>
      <c:txPr>
        <a:bodyPr rot="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600" b="0" i="0" u="none" strike="noStrike" kern="1200" spc="0" baseline="0">
                <a:solidFill>
                  <a:schemeClr val="tx1">
                    <a:lumMod val="65000"/>
                    <a:lumOff val="35000"/>
                  </a:schemeClr>
                </a:solidFill>
                <a:latin typeface="+mn-lt"/>
                <a:ea typeface="+mn-ea"/>
                <a:cs typeface="+mn-cs"/>
              </a:defRPr>
            </a:pPr>
            <a:r>
              <a:rPr lang="en-IN" sz="1600" dirty="0"/>
              <a:t>Export Other than Metal and Mineral</a:t>
            </a:r>
          </a:p>
        </c:rich>
      </c:tx>
      <c:overlay val="0"/>
      <c:spPr>
        <a:noFill/>
        <a:ln>
          <a:noFill/>
        </a:ln>
        <a:effectLst/>
      </c:spPr>
      <c:txPr>
        <a:bodyPr rot="0" spcFirstLastPara="1" vertOverflow="ellipsis" vert="horz" wrap="square" anchor="ctr" anchorCtr="1"/>
        <a:lstStyle/>
        <a:p>
          <a:pPr>
            <a:defRPr lang="en-US" sz="16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2A06-4E74-853E-096072D66A1B}"/>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2A06-4E74-853E-096072D66A1B}"/>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2A06-4E74-853E-096072D66A1B}"/>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2A06-4E74-853E-096072D66A1B}"/>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2A06-4E74-853E-096072D66A1B}"/>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2A06-4E74-853E-096072D66A1B}"/>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2A06-4E74-853E-096072D66A1B}"/>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2A06-4E74-853E-096072D66A1B}"/>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11-2A06-4E74-853E-096072D66A1B}"/>
              </c:ext>
            </c:extLst>
          </c:dPt>
          <c:dPt>
            <c:idx val="9"/>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13-2A06-4E74-853E-096072D66A1B}"/>
              </c:ext>
            </c:extLst>
          </c:dPt>
          <c:dPt>
            <c:idx val="10"/>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015-2A06-4E74-853E-096072D66A1B}"/>
              </c:ext>
            </c:extLst>
          </c:dPt>
          <c:dPt>
            <c:idx val="11"/>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017-2A06-4E74-853E-096072D66A1B}"/>
              </c:ext>
            </c:extLst>
          </c:dPt>
          <c:dLbls>
            <c:dLbl>
              <c:idx val="9"/>
              <c:layout>
                <c:manualLayout>
                  <c:x val="-7.3676498407083901E-2"/>
                  <c:y val="-7.796410778919300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2A06-4E74-853E-096072D66A1B}"/>
                </c:ext>
              </c:extLst>
            </c:dLbl>
            <c:spPr>
              <a:noFill/>
              <a:ln>
                <a:noFill/>
              </a:ln>
              <a:effectLst/>
            </c:spPr>
            <c:txPr>
              <a:bodyPr rot="0" spcFirstLastPara="1" vertOverflow="ellipsis" vert="horz" wrap="square" lIns="38100" tIns="19050" rIns="38100" bIns="19050" anchor="ctr" anchorCtr="1">
                <a:spAutoFit/>
              </a:bodyPr>
              <a:lstStyle/>
              <a:p>
                <a:pPr>
                  <a:defRPr lang="en-US" sz="18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Sheet1!$A$2:$A$13</c:f>
              <c:strCache>
                <c:ptCount val="12"/>
                <c:pt idx="0">
                  <c:v>Gems And Jewellery</c:v>
                </c:pt>
                <c:pt idx="1">
                  <c:v>Energy including Captive, Solar</c:v>
                </c:pt>
                <c:pt idx="2">
                  <c:v>Textiles &amp; Garments</c:v>
                </c:pt>
                <c:pt idx="3">
                  <c:v>Trading And Services</c:v>
                </c:pt>
                <c:pt idx="4">
                  <c:v>Engineering, Electonics and Hardware</c:v>
                </c:pt>
                <c:pt idx="5">
                  <c:v>Food and Agro industry</c:v>
                </c:pt>
                <c:pt idx="6">
                  <c:v>Plastic and Rubber</c:v>
                </c:pt>
                <c:pt idx="7">
                  <c:v>Chemicals</c:v>
                </c:pt>
                <c:pt idx="8">
                  <c:v>Leather, footwear and sports goods</c:v>
                </c:pt>
                <c:pt idx="9">
                  <c:v>IT/ITES</c:v>
                </c:pt>
                <c:pt idx="10">
                  <c:v>Packaging</c:v>
                </c:pt>
                <c:pt idx="11">
                  <c:v>Handicraft</c:v>
                </c:pt>
              </c:strCache>
            </c:strRef>
          </c:cat>
          <c:val>
            <c:numRef>
              <c:f>Sheet1!$B$2:$B$13</c:f>
              <c:numCache>
                <c:formatCode>"₹"\ #,##0</c:formatCode>
                <c:ptCount val="12"/>
                <c:pt idx="0">
                  <c:v>1253.8204009999977</c:v>
                </c:pt>
                <c:pt idx="1">
                  <c:v>627.48122399999897</c:v>
                </c:pt>
                <c:pt idx="2">
                  <c:v>343.53731999999917</c:v>
                </c:pt>
                <c:pt idx="3">
                  <c:v>336.70240999999993</c:v>
                </c:pt>
                <c:pt idx="4">
                  <c:v>224.01849000000001</c:v>
                </c:pt>
                <c:pt idx="5">
                  <c:v>168.82738300000025</c:v>
                </c:pt>
                <c:pt idx="6">
                  <c:v>45.335943000000007</c:v>
                </c:pt>
                <c:pt idx="7">
                  <c:v>9.3461660000000002</c:v>
                </c:pt>
                <c:pt idx="8">
                  <c:v>6.6169999999999956</c:v>
                </c:pt>
                <c:pt idx="9">
                  <c:v>21113</c:v>
                </c:pt>
                <c:pt idx="10">
                  <c:v>0.40382100000000032</c:v>
                </c:pt>
                <c:pt idx="11">
                  <c:v>0</c:v>
                </c:pt>
              </c:numCache>
            </c:numRef>
          </c:val>
          <c:extLst>
            <c:ext xmlns:c16="http://schemas.microsoft.com/office/drawing/2014/chart" uri="{C3380CC4-5D6E-409C-BE32-E72D297353CC}">
              <c16:uniqueId val="{00000018-2A06-4E74-853E-096072D66A1B}"/>
            </c:ext>
          </c:extLst>
        </c:ser>
        <c:dLbls>
          <c:showLegendKey val="0"/>
          <c:showVal val="0"/>
          <c:showCatName val="0"/>
          <c:showSerName val="0"/>
          <c:showPercent val="0"/>
          <c:showBubbleSize val="0"/>
          <c:showLeaderLines val="1"/>
        </c:dLbls>
        <c:firstSliceAng val="0"/>
      </c:pieChart>
      <c:spPr>
        <a:noFill/>
        <a:ln>
          <a:noFill/>
        </a:ln>
        <a:effectLst/>
      </c:spPr>
    </c:plotArea>
    <c:legend>
      <c:legendPos val="b"/>
      <c:layout>
        <c:manualLayout>
          <c:xMode val="edge"/>
          <c:yMode val="edge"/>
          <c:x val="2.634379463342916E-2"/>
          <c:y val="0.77721663967161569"/>
          <c:w val="0.94572349818989276"/>
          <c:h val="0.20885946883094886"/>
        </c:manualLayout>
      </c:layout>
      <c:overlay val="0"/>
      <c:spPr>
        <a:noFill/>
        <a:ln>
          <a:noFill/>
        </a:ln>
        <a:effectLst/>
      </c:spPr>
      <c:txPr>
        <a:bodyPr rot="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D3F134B-0F41-428A-9AEF-6E57F0814D84}"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IN"/>
        </a:p>
      </dgm:t>
    </dgm:pt>
    <dgm:pt modelId="{01CBF2E6-0DF9-4A46-A959-0D78531BF554}">
      <dgm:prSet phldrT="[Text]" custT="1"/>
      <dgm:spPr/>
      <dgm:t>
        <a:bodyPr/>
        <a:lstStyle/>
        <a:p>
          <a:r>
            <a:rPr lang="en-IN" sz="2400" b="1" dirty="0"/>
            <a:t>Phase 1</a:t>
          </a:r>
        </a:p>
      </dgm:t>
    </dgm:pt>
    <dgm:pt modelId="{E6B0D2B8-075F-49D4-9641-9D64F68DF65A}" type="parTrans" cxnId="{BDE7C12D-DC3A-4939-B71C-C9A55AFA9E56}">
      <dgm:prSet/>
      <dgm:spPr/>
      <dgm:t>
        <a:bodyPr/>
        <a:lstStyle/>
        <a:p>
          <a:endParaRPr lang="en-IN"/>
        </a:p>
      </dgm:t>
    </dgm:pt>
    <dgm:pt modelId="{A90AFFF5-EEB8-4F8C-99DD-FFCF0769C1F5}" type="sibTrans" cxnId="{BDE7C12D-DC3A-4939-B71C-C9A55AFA9E56}">
      <dgm:prSet/>
      <dgm:spPr/>
      <dgm:t>
        <a:bodyPr/>
        <a:lstStyle/>
        <a:p>
          <a:endParaRPr lang="en-IN"/>
        </a:p>
      </dgm:t>
    </dgm:pt>
    <dgm:pt modelId="{172C44A1-1F72-4844-9AE8-396FA9C7689B}">
      <dgm:prSet phldrT="[Text]" custT="1"/>
      <dgm:spPr/>
      <dgm:t>
        <a:bodyPr/>
        <a:lstStyle/>
        <a:p>
          <a:r>
            <a:rPr lang="en-IN" sz="2000" b="1" dirty="0"/>
            <a:t>Initial Phase (1964-1984)</a:t>
          </a:r>
        </a:p>
      </dgm:t>
    </dgm:pt>
    <dgm:pt modelId="{21780603-16E4-4EC6-8856-DADB5B0FE907}" type="parTrans" cxnId="{556B89CB-9BE7-4062-8E2A-B686F0AFAEA3}">
      <dgm:prSet/>
      <dgm:spPr/>
      <dgm:t>
        <a:bodyPr/>
        <a:lstStyle/>
        <a:p>
          <a:endParaRPr lang="en-IN"/>
        </a:p>
      </dgm:t>
    </dgm:pt>
    <dgm:pt modelId="{B176B460-1EA9-4A18-B2B9-DAA704CC7FD3}" type="sibTrans" cxnId="{556B89CB-9BE7-4062-8E2A-B686F0AFAEA3}">
      <dgm:prSet/>
      <dgm:spPr/>
      <dgm:t>
        <a:bodyPr/>
        <a:lstStyle/>
        <a:p>
          <a:endParaRPr lang="en-IN"/>
        </a:p>
      </dgm:t>
    </dgm:pt>
    <dgm:pt modelId="{4CE01C70-BCB7-4C16-9BAD-1CCC209139F6}">
      <dgm:prSet phldrT="[Text]" custT="1"/>
      <dgm:spPr/>
      <dgm:t>
        <a:bodyPr/>
        <a:lstStyle/>
        <a:p>
          <a:r>
            <a:rPr lang="en-IN" sz="2000" dirty="0"/>
            <a:t>Establishment of </a:t>
          </a:r>
          <a:r>
            <a:rPr lang="en-IN" sz="2000" b="1" dirty="0" err="1"/>
            <a:t>Kandla</a:t>
          </a:r>
          <a:r>
            <a:rPr lang="en-IN" sz="2000" b="1" dirty="0"/>
            <a:t> FTZ </a:t>
          </a:r>
          <a:r>
            <a:rPr lang="en-IN" sz="2000" dirty="0"/>
            <a:t>in 1965 and </a:t>
          </a:r>
          <a:r>
            <a:rPr lang="en-IN" sz="2000" b="1" dirty="0"/>
            <a:t>SEEPZ</a:t>
          </a:r>
          <a:r>
            <a:rPr lang="en-IN" sz="2000" dirty="0"/>
            <a:t> Mumbai in 1973</a:t>
          </a:r>
        </a:p>
      </dgm:t>
    </dgm:pt>
    <dgm:pt modelId="{AF65DAE0-39FD-45EB-AB3B-8934D0506B89}" type="parTrans" cxnId="{25BBD41D-A49E-425A-8C39-E6EDBEA7B964}">
      <dgm:prSet/>
      <dgm:spPr/>
      <dgm:t>
        <a:bodyPr/>
        <a:lstStyle/>
        <a:p>
          <a:endParaRPr lang="en-IN"/>
        </a:p>
      </dgm:t>
    </dgm:pt>
    <dgm:pt modelId="{C518A47E-459F-4787-865E-FD12F72690C8}" type="sibTrans" cxnId="{25BBD41D-A49E-425A-8C39-E6EDBEA7B964}">
      <dgm:prSet/>
      <dgm:spPr/>
      <dgm:t>
        <a:bodyPr/>
        <a:lstStyle/>
        <a:p>
          <a:endParaRPr lang="en-IN"/>
        </a:p>
      </dgm:t>
    </dgm:pt>
    <dgm:pt modelId="{A0A8D006-D675-4C27-B182-49FEDCE1E159}">
      <dgm:prSet phldrT="[Text]" custT="1"/>
      <dgm:spPr/>
      <dgm:t>
        <a:bodyPr/>
        <a:lstStyle/>
        <a:p>
          <a:r>
            <a:rPr lang="en-IN" sz="2400" b="1" dirty="0"/>
            <a:t>Phase 2 &amp; 3</a:t>
          </a:r>
        </a:p>
      </dgm:t>
    </dgm:pt>
    <dgm:pt modelId="{53FF14FF-C1C9-4CDF-BB3C-6FC26D6B8005}" type="parTrans" cxnId="{F553DEEC-852B-4AF4-80C5-06B6D1BE560B}">
      <dgm:prSet/>
      <dgm:spPr/>
      <dgm:t>
        <a:bodyPr/>
        <a:lstStyle/>
        <a:p>
          <a:endParaRPr lang="en-IN"/>
        </a:p>
      </dgm:t>
    </dgm:pt>
    <dgm:pt modelId="{523C5A38-6A4F-4D8D-9077-A48F089129E0}" type="sibTrans" cxnId="{F553DEEC-852B-4AF4-80C5-06B6D1BE560B}">
      <dgm:prSet/>
      <dgm:spPr/>
      <dgm:t>
        <a:bodyPr/>
        <a:lstStyle/>
        <a:p>
          <a:endParaRPr lang="en-IN"/>
        </a:p>
      </dgm:t>
    </dgm:pt>
    <dgm:pt modelId="{7465E84D-EDF8-4742-B663-FCF04E65E032}">
      <dgm:prSet phldrT="[Text]" custT="1"/>
      <dgm:spPr/>
      <dgm:t>
        <a:bodyPr/>
        <a:lstStyle/>
        <a:p>
          <a:r>
            <a:rPr lang="en-IN" sz="2000" b="1" dirty="0"/>
            <a:t>Expansion and Consolidation Phase (1985-1991 &amp; 1991-2000)</a:t>
          </a:r>
        </a:p>
      </dgm:t>
    </dgm:pt>
    <dgm:pt modelId="{B2201A21-878A-40C5-BA40-53F3EED51FBD}" type="parTrans" cxnId="{693A6597-8603-469F-A246-59573C94DD38}">
      <dgm:prSet/>
      <dgm:spPr/>
      <dgm:t>
        <a:bodyPr/>
        <a:lstStyle/>
        <a:p>
          <a:endParaRPr lang="en-IN"/>
        </a:p>
      </dgm:t>
    </dgm:pt>
    <dgm:pt modelId="{3734AE16-277C-4873-9477-9BC1D5305A1D}" type="sibTrans" cxnId="{693A6597-8603-469F-A246-59573C94DD38}">
      <dgm:prSet/>
      <dgm:spPr/>
      <dgm:t>
        <a:bodyPr/>
        <a:lstStyle/>
        <a:p>
          <a:endParaRPr lang="en-IN"/>
        </a:p>
      </dgm:t>
    </dgm:pt>
    <dgm:pt modelId="{5E7EF65B-C0F3-4B36-ADB8-70A4344A6A5A}">
      <dgm:prSet phldrT="[Text]" custT="1"/>
      <dgm:spPr/>
      <dgm:t>
        <a:bodyPr/>
        <a:lstStyle/>
        <a:p>
          <a:r>
            <a:rPr lang="en-IN" sz="2000" b="1" dirty="0"/>
            <a:t>Noida</a:t>
          </a:r>
          <a:r>
            <a:rPr lang="en-IN" sz="2000" dirty="0"/>
            <a:t>, </a:t>
          </a:r>
          <a:r>
            <a:rPr lang="en-IN" sz="2000" b="1" dirty="0"/>
            <a:t>Madras</a:t>
          </a:r>
          <a:r>
            <a:rPr lang="en-IN" sz="2000" dirty="0"/>
            <a:t>, </a:t>
          </a:r>
          <a:r>
            <a:rPr lang="en-IN" sz="2000" b="1" dirty="0" err="1"/>
            <a:t>Cochi</a:t>
          </a:r>
          <a:r>
            <a:rPr lang="en-IN" sz="2000" dirty="0"/>
            <a:t> and </a:t>
          </a:r>
          <a:r>
            <a:rPr lang="en-IN" sz="2000" b="1" dirty="0" err="1"/>
            <a:t>Vizag</a:t>
          </a:r>
          <a:r>
            <a:rPr lang="en-IN" sz="2000" dirty="0"/>
            <a:t> EPZs were established.</a:t>
          </a:r>
        </a:p>
      </dgm:t>
    </dgm:pt>
    <dgm:pt modelId="{8631E49E-2391-48C4-8BBD-92C757E879E1}" type="parTrans" cxnId="{B29342BB-505F-4DB4-8ED7-50EF983862D1}">
      <dgm:prSet/>
      <dgm:spPr/>
      <dgm:t>
        <a:bodyPr/>
        <a:lstStyle/>
        <a:p>
          <a:endParaRPr lang="en-IN"/>
        </a:p>
      </dgm:t>
    </dgm:pt>
    <dgm:pt modelId="{63D33D8E-BCB6-4F70-B19E-3B77EB140AC7}" type="sibTrans" cxnId="{B29342BB-505F-4DB4-8ED7-50EF983862D1}">
      <dgm:prSet/>
      <dgm:spPr/>
      <dgm:t>
        <a:bodyPr/>
        <a:lstStyle/>
        <a:p>
          <a:endParaRPr lang="en-IN"/>
        </a:p>
      </dgm:t>
    </dgm:pt>
    <dgm:pt modelId="{BFF94383-7715-4C25-BDF8-0314A3B48B97}">
      <dgm:prSet phldrT="[Text]" custT="1"/>
      <dgm:spPr/>
      <dgm:t>
        <a:bodyPr/>
        <a:lstStyle/>
        <a:p>
          <a:r>
            <a:rPr lang="en-IN" sz="2400" b="1" dirty="0"/>
            <a:t>Phase 4</a:t>
          </a:r>
        </a:p>
      </dgm:t>
    </dgm:pt>
    <dgm:pt modelId="{593C9E05-ED4F-47A2-B93E-9EF1C67299E3}" type="parTrans" cxnId="{8E670339-5CD0-49CC-87A9-F4228B17314B}">
      <dgm:prSet/>
      <dgm:spPr/>
      <dgm:t>
        <a:bodyPr/>
        <a:lstStyle/>
        <a:p>
          <a:endParaRPr lang="en-IN"/>
        </a:p>
      </dgm:t>
    </dgm:pt>
    <dgm:pt modelId="{EECC57F4-B228-45E4-872C-0C98A2601F8E}" type="sibTrans" cxnId="{8E670339-5CD0-49CC-87A9-F4228B17314B}">
      <dgm:prSet/>
      <dgm:spPr/>
      <dgm:t>
        <a:bodyPr/>
        <a:lstStyle/>
        <a:p>
          <a:endParaRPr lang="en-IN"/>
        </a:p>
      </dgm:t>
    </dgm:pt>
    <dgm:pt modelId="{51BB7CCF-784C-49D1-9B70-6735692A8F02}">
      <dgm:prSet phldrT="[Text]" custT="1"/>
      <dgm:spPr/>
      <dgm:t>
        <a:bodyPr/>
        <a:lstStyle/>
        <a:p>
          <a:r>
            <a:rPr lang="en-IN" sz="2000" b="1" dirty="0"/>
            <a:t>Expansionary Growth Phase (Post 2000 to present)</a:t>
          </a:r>
        </a:p>
      </dgm:t>
    </dgm:pt>
    <dgm:pt modelId="{D22E1988-76D6-4A42-ADE2-907BC5EC3169}" type="parTrans" cxnId="{03BE3503-7F65-4519-8B42-C430A10B4EAD}">
      <dgm:prSet/>
      <dgm:spPr/>
      <dgm:t>
        <a:bodyPr/>
        <a:lstStyle/>
        <a:p>
          <a:endParaRPr lang="en-IN"/>
        </a:p>
      </dgm:t>
    </dgm:pt>
    <dgm:pt modelId="{AB1938CC-89B9-4C3F-A459-A292A4092651}" type="sibTrans" cxnId="{03BE3503-7F65-4519-8B42-C430A10B4EAD}">
      <dgm:prSet/>
      <dgm:spPr/>
      <dgm:t>
        <a:bodyPr/>
        <a:lstStyle/>
        <a:p>
          <a:endParaRPr lang="en-IN"/>
        </a:p>
      </dgm:t>
    </dgm:pt>
    <dgm:pt modelId="{8E8DF1B9-F581-41B8-9A6C-5AD65A6FBDEC}">
      <dgm:prSet phldrT="[Text]" custT="1"/>
      <dgm:spPr/>
      <dgm:t>
        <a:bodyPr/>
        <a:lstStyle/>
        <a:p>
          <a:r>
            <a:rPr lang="en-IN" sz="2000" dirty="0"/>
            <a:t>New EXIM Policy adopted, leading to conversion of EPZs to SEZs and creation of new SEZs.</a:t>
          </a:r>
        </a:p>
      </dgm:t>
    </dgm:pt>
    <dgm:pt modelId="{28210B88-3EFA-4131-9963-D6D3C9EB9137}" type="parTrans" cxnId="{CA18BE0D-35B3-4228-92BB-C1C22D468A89}">
      <dgm:prSet/>
      <dgm:spPr/>
      <dgm:t>
        <a:bodyPr/>
        <a:lstStyle/>
        <a:p>
          <a:endParaRPr lang="en-IN"/>
        </a:p>
      </dgm:t>
    </dgm:pt>
    <dgm:pt modelId="{5F5DF457-8B3E-4EF8-8B0B-3B80E6C18B22}" type="sibTrans" cxnId="{CA18BE0D-35B3-4228-92BB-C1C22D468A89}">
      <dgm:prSet/>
      <dgm:spPr/>
      <dgm:t>
        <a:bodyPr/>
        <a:lstStyle/>
        <a:p>
          <a:endParaRPr lang="en-IN"/>
        </a:p>
      </dgm:t>
    </dgm:pt>
    <dgm:pt modelId="{E38E555C-1612-44D1-8C4F-2766BA74946B}">
      <dgm:prSet phldrT="[Text]" custT="1"/>
      <dgm:spPr/>
      <dgm:t>
        <a:bodyPr/>
        <a:lstStyle/>
        <a:p>
          <a:r>
            <a:rPr lang="en-IN" sz="2000" b="1" dirty="0" err="1"/>
            <a:t>Falta</a:t>
          </a:r>
          <a:r>
            <a:rPr lang="en-IN" sz="2000" b="1" dirty="0"/>
            <a:t> EPZ </a:t>
          </a:r>
          <a:r>
            <a:rPr lang="en-IN" sz="2000" dirty="0"/>
            <a:t>established in </a:t>
          </a:r>
          <a:r>
            <a:rPr lang="en-IN" sz="2000" b="1" dirty="0"/>
            <a:t>1984</a:t>
          </a:r>
        </a:p>
      </dgm:t>
    </dgm:pt>
    <dgm:pt modelId="{7493E5CF-1CF1-459D-AC47-B9F3FA417512}" type="parTrans" cxnId="{0BD048F8-FA68-4514-B3D0-1AC0CB756896}">
      <dgm:prSet/>
      <dgm:spPr/>
      <dgm:t>
        <a:bodyPr/>
        <a:lstStyle/>
        <a:p>
          <a:endParaRPr lang="en-IN"/>
        </a:p>
      </dgm:t>
    </dgm:pt>
    <dgm:pt modelId="{30635FB7-8422-47FB-8B49-8C1C6BC3E034}" type="sibTrans" cxnId="{0BD048F8-FA68-4514-B3D0-1AC0CB756896}">
      <dgm:prSet/>
      <dgm:spPr/>
      <dgm:t>
        <a:bodyPr/>
        <a:lstStyle/>
        <a:p>
          <a:endParaRPr lang="en-IN"/>
        </a:p>
      </dgm:t>
    </dgm:pt>
    <dgm:pt modelId="{2E6B4560-F695-4A60-BFC1-3BBE3036E3C8}">
      <dgm:prSet phldrT="[Text]" custT="1"/>
      <dgm:spPr/>
      <dgm:t>
        <a:bodyPr/>
        <a:lstStyle/>
        <a:p>
          <a:r>
            <a:rPr lang="en-IN" sz="2000" dirty="0"/>
            <a:t>EOU Scheme introduced.</a:t>
          </a:r>
        </a:p>
      </dgm:t>
    </dgm:pt>
    <dgm:pt modelId="{77DDDE27-7C45-4D1B-B0E1-18C442F437F6}" type="parTrans" cxnId="{019F4A34-5DD9-4471-9622-FD092C82F8A5}">
      <dgm:prSet/>
      <dgm:spPr/>
      <dgm:t>
        <a:bodyPr/>
        <a:lstStyle/>
        <a:p>
          <a:endParaRPr lang="en-IN"/>
        </a:p>
      </dgm:t>
    </dgm:pt>
    <dgm:pt modelId="{B79AEA75-6B06-4073-8288-DE3C29D0D86C}" type="sibTrans" cxnId="{019F4A34-5DD9-4471-9622-FD092C82F8A5}">
      <dgm:prSet/>
      <dgm:spPr/>
      <dgm:t>
        <a:bodyPr/>
        <a:lstStyle/>
        <a:p>
          <a:endParaRPr lang="en-IN"/>
        </a:p>
      </dgm:t>
    </dgm:pt>
    <dgm:pt modelId="{037E5ABF-5014-484C-BAF9-CF63D965B2D7}">
      <dgm:prSet phldrT="[Text]" custT="1"/>
      <dgm:spPr/>
      <dgm:t>
        <a:bodyPr/>
        <a:lstStyle/>
        <a:p>
          <a:r>
            <a:rPr lang="en-IN" sz="2000" dirty="0"/>
            <a:t>EPZs underwent restructuring, simplification &amp; rationalisation.</a:t>
          </a:r>
        </a:p>
      </dgm:t>
    </dgm:pt>
    <dgm:pt modelId="{CD54C66E-705C-4526-A03C-14E7AFD2B9D2}" type="parTrans" cxnId="{8FBF9280-B404-47F3-8432-F1604A78D4DD}">
      <dgm:prSet/>
      <dgm:spPr/>
      <dgm:t>
        <a:bodyPr/>
        <a:lstStyle/>
        <a:p>
          <a:endParaRPr lang="en-IN"/>
        </a:p>
      </dgm:t>
    </dgm:pt>
    <dgm:pt modelId="{EEEB106B-B6B1-4B4E-BB23-7546455B7624}" type="sibTrans" cxnId="{8FBF9280-B404-47F3-8432-F1604A78D4DD}">
      <dgm:prSet/>
      <dgm:spPr/>
      <dgm:t>
        <a:bodyPr/>
        <a:lstStyle/>
        <a:p>
          <a:endParaRPr lang="en-IN"/>
        </a:p>
      </dgm:t>
    </dgm:pt>
    <dgm:pt modelId="{DCF54EDD-FE9F-4E58-BB30-ACC0CBD10FF6}">
      <dgm:prSet phldrT="[Text]" custT="1"/>
      <dgm:spPr/>
      <dgm:t>
        <a:bodyPr/>
        <a:lstStyle/>
        <a:p>
          <a:r>
            <a:rPr lang="en-IN" sz="2000" b="1" dirty="0"/>
            <a:t>SEZ Act </a:t>
          </a:r>
          <a:r>
            <a:rPr lang="en-IN" sz="2000" dirty="0"/>
            <a:t>in </a:t>
          </a:r>
          <a:r>
            <a:rPr lang="en-IN" sz="2000" b="1" dirty="0"/>
            <a:t>2005</a:t>
          </a:r>
          <a:r>
            <a:rPr lang="en-IN" sz="2000" dirty="0"/>
            <a:t> enacted and formulation of </a:t>
          </a:r>
          <a:r>
            <a:rPr lang="en-IN" sz="2000" b="1" dirty="0"/>
            <a:t>SEZ Rules </a:t>
          </a:r>
          <a:r>
            <a:rPr lang="en-IN" sz="2000" dirty="0"/>
            <a:t>in </a:t>
          </a:r>
          <a:r>
            <a:rPr lang="en-IN" sz="2000" b="1" dirty="0"/>
            <a:t>2006</a:t>
          </a:r>
          <a:r>
            <a:rPr lang="en-IN" sz="2000" dirty="0"/>
            <a:t>. </a:t>
          </a:r>
        </a:p>
      </dgm:t>
    </dgm:pt>
    <dgm:pt modelId="{D7A89D1B-F8BD-4BB5-9446-F723E88F12E0}" type="parTrans" cxnId="{3B1E236F-A5C0-421D-957F-A474FEEE8C0C}">
      <dgm:prSet/>
      <dgm:spPr/>
      <dgm:t>
        <a:bodyPr/>
        <a:lstStyle/>
        <a:p>
          <a:endParaRPr lang="en-IN"/>
        </a:p>
      </dgm:t>
    </dgm:pt>
    <dgm:pt modelId="{7685F0D3-62E2-44EF-9E39-8000879E312D}" type="sibTrans" cxnId="{3B1E236F-A5C0-421D-957F-A474FEEE8C0C}">
      <dgm:prSet/>
      <dgm:spPr/>
      <dgm:t>
        <a:bodyPr/>
        <a:lstStyle/>
        <a:p>
          <a:endParaRPr lang="en-IN"/>
        </a:p>
      </dgm:t>
    </dgm:pt>
    <dgm:pt modelId="{7BE8927D-C5DB-4B17-BFB1-8CD843F720F5}">
      <dgm:prSet phldrT="[Text]" custT="1"/>
      <dgm:spPr/>
      <dgm:t>
        <a:bodyPr/>
        <a:lstStyle/>
        <a:p>
          <a:r>
            <a:rPr lang="en-IN" sz="2000" dirty="0"/>
            <a:t>Presently, </a:t>
          </a:r>
          <a:r>
            <a:rPr lang="en-IN" sz="2000" b="1" dirty="0"/>
            <a:t>379</a:t>
          </a:r>
          <a:r>
            <a:rPr lang="en-IN" sz="2000" dirty="0"/>
            <a:t> notified SEZs, out of which, </a:t>
          </a:r>
          <a:r>
            <a:rPr lang="en-IN" sz="2000" b="1" dirty="0"/>
            <a:t>267</a:t>
          </a:r>
          <a:r>
            <a:rPr lang="en-IN" sz="2000" dirty="0"/>
            <a:t> are operational SEZs, covering total 47480 hectares of area.</a:t>
          </a:r>
        </a:p>
      </dgm:t>
    </dgm:pt>
    <dgm:pt modelId="{44318949-CB5F-420A-9284-9F3078FCFCE5}" type="parTrans" cxnId="{2E3A103E-1660-4864-B552-1EF9CA604200}">
      <dgm:prSet/>
      <dgm:spPr/>
      <dgm:t>
        <a:bodyPr/>
        <a:lstStyle/>
        <a:p>
          <a:endParaRPr lang="en-IN"/>
        </a:p>
      </dgm:t>
    </dgm:pt>
    <dgm:pt modelId="{6D651193-F2E9-4DF7-B192-AA59665CE21C}" type="sibTrans" cxnId="{2E3A103E-1660-4864-B552-1EF9CA604200}">
      <dgm:prSet/>
      <dgm:spPr/>
      <dgm:t>
        <a:bodyPr/>
        <a:lstStyle/>
        <a:p>
          <a:endParaRPr lang="en-IN"/>
        </a:p>
      </dgm:t>
    </dgm:pt>
    <dgm:pt modelId="{FC5C64D3-029F-4134-A87B-BF5D971FAA5A}" type="pres">
      <dgm:prSet presAssocID="{AD3F134B-0F41-428A-9AEF-6E57F0814D84}" presName="linearFlow" presStyleCnt="0">
        <dgm:presLayoutVars>
          <dgm:dir/>
          <dgm:animLvl val="lvl"/>
          <dgm:resizeHandles val="exact"/>
        </dgm:presLayoutVars>
      </dgm:prSet>
      <dgm:spPr/>
    </dgm:pt>
    <dgm:pt modelId="{3EFCEAAD-6393-4098-9C31-0448A2344E05}" type="pres">
      <dgm:prSet presAssocID="{01CBF2E6-0DF9-4A46-A959-0D78531BF554}" presName="composite" presStyleCnt="0"/>
      <dgm:spPr/>
    </dgm:pt>
    <dgm:pt modelId="{5E8265C9-6A7C-4D22-AC1A-DEA6CAD4AA0B}" type="pres">
      <dgm:prSet presAssocID="{01CBF2E6-0DF9-4A46-A959-0D78531BF554}" presName="parentText" presStyleLbl="alignNode1" presStyleIdx="0" presStyleCnt="3">
        <dgm:presLayoutVars>
          <dgm:chMax val="1"/>
          <dgm:bulletEnabled val="1"/>
        </dgm:presLayoutVars>
      </dgm:prSet>
      <dgm:spPr/>
    </dgm:pt>
    <dgm:pt modelId="{43F53009-A34E-4299-8CCC-6D5B9D5D9BB2}" type="pres">
      <dgm:prSet presAssocID="{01CBF2E6-0DF9-4A46-A959-0D78531BF554}" presName="descendantText" presStyleLbl="alignAcc1" presStyleIdx="0" presStyleCnt="3" custScaleY="121095" custLinFactNeighborX="866" custLinFactNeighborY="-1014">
        <dgm:presLayoutVars>
          <dgm:bulletEnabled val="1"/>
        </dgm:presLayoutVars>
      </dgm:prSet>
      <dgm:spPr/>
    </dgm:pt>
    <dgm:pt modelId="{147DF087-96E2-48FF-8302-2569B6F3838A}" type="pres">
      <dgm:prSet presAssocID="{A90AFFF5-EEB8-4F8C-99DD-FFCF0769C1F5}" presName="sp" presStyleCnt="0"/>
      <dgm:spPr/>
    </dgm:pt>
    <dgm:pt modelId="{C317FB71-4063-4AF7-94B2-DF629478DBA4}" type="pres">
      <dgm:prSet presAssocID="{A0A8D006-D675-4C27-B182-49FEDCE1E159}" presName="composite" presStyleCnt="0"/>
      <dgm:spPr/>
    </dgm:pt>
    <dgm:pt modelId="{5BC12BFA-FE55-4DC6-ACFF-90EED728F669}" type="pres">
      <dgm:prSet presAssocID="{A0A8D006-D675-4C27-B182-49FEDCE1E159}" presName="parentText" presStyleLbl="alignNode1" presStyleIdx="1" presStyleCnt="3">
        <dgm:presLayoutVars>
          <dgm:chMax val="1"/>
          <dgm:bulletEnabled val="1"/>
        </dgm:presLayoutVars>
      </dgm:prSet>
      <dgm:spPr/>
    </dgm:pt>
    <dgm:pt modelId="{770B6E5D-D251-4836-98B2-5401893630D8}" type="pres">
      <dgm:prSet presAssocID="{A0A8D006-D675-4C27-B182-49FEDCE1E159}" presName="descendantText" presStyleLbl="alignAcc1" presStyleIdx="1" presStyleCnt="3" custScaleY="153173">
        <dgm:presLayoutVars>
          <dgm:bulletEnabled val="1"/>
        </dgm:presLayoutVars>
      </dgm:prSet>
      <dgm:spPr/>
    </dgm:pt>
    <dgm:pt modelId="{02050097-39ED-414E-8A91-C9B42BA52798}" type="pres">
      <dgm:prSet presAssocID="{523C5A38-6A4F-4D8D-9077-A48F089129E0}" presName="sp" presStyleCnt="0"/>
      <dgm:spPr/>
    </dgm:pt>
    <dgm:pt modelId="{678248F2-DCEE-4CF8-ACF6-E5F1735C9A38}" type="pres">
      <dgm:prSet presAssocID="{BFF94383-7715-4C25-BDF8-0314A3B48B97}" presName="composite" presStyleCnt="0"/>
      <dgm:spPr/>
    </dgm:pt>
    <dgm:pt modelId="{C2B23DBC-E2B1-409C-BFBC-C543F7247408}" type="pres">
      <dgm:prSet presAssocID="{BFF94383-7715-4C25-BDF8-0314A3B48B97}" presName="parentText" presStyleLbl="alignNode1" presStyleIdx="2" presStyleCnt="3">
        <dgm:presLayoutVars>
          <dgm:chMax val="1"/>
          <dgm:bulletEnabled val="1"/>
        </dgm:presLayoutVars>
      </dgm:prSet>
      <dgm:spPr/>
    </dgm:pt>
    <dgm:pt modelId="{DC04FD6A-5C40-452A-A32C-FC47DBE61CD6}" type="pres">
      <dgm:prSet presAssocID="{BFF94383-7715-4C25-BDF8-0314A3B48B97}" presName="descendantText" presStyleLbl="alignAcc1" presStyleIdx="2" presStyleCnt="3" custScaleY="169543">
        <dgm:presLayoutVars>
          <dgm:bulletEnabled val="1"/>
        </dgm:presLayoutVars>
      </dgm:prSet>
      <dgm:spPr/>
    </dgm:pt>
  </dgm:ptLst>
  <dgm:cxnLst>
    <dgm:cxn modelId="{03BE3503-7F65-4519-8B42-C430A10B4EAD}" srcId="{BFF94383-7715-4C25-BDF8-0314A3B48B97}" destId="{51BB7CCF-784C-49D1-9B70-6735692A8F02}" srcOrd="0" destOrd="0" parTransId="{D22E1988-76D6-4A42-ADE2-907BC5EC3169}" sibTransId="{AB1938CC-89B9-4C3F-A459-A292A4092651}"/>
    <dgm:cxn modelId="{4AA65207-1DD1-4AB8-BED9-A33CEBC61785}" type="presOf" srcId="{8E8DF1B9-F581-41B8-9A6C-5AD65A6FBDEC}" destId="{DC04FD6A-5C40-452A-A32C-FC47DBE61CD6}" srcOrd="0" destOrd="1" presId="urn:microsoft.com/office/officeart/2005/8/layout/chevron2"/>
    <dgm:cxn modelId="{CA18BE0D-35B3-4228-92BB-C1C22D468A89}" srcId="{BFF94383-7715-4C25-BDF8-0314A3B48B97}" destId="{8E8DF1B9-F581-41B8-9A6C-5AD65A6FBDEC}" srcOrd="1" destOrd="0" parTransId="{28210B88-3EFA-4131-9963-D6D3C9EB9137}" sibTransId="{5F5DF457-8B3E-4EF8-8B0B-3B80E6C18B22}"/>
    <dgm:cxn modelId="{25BBD41D-A49E-425A-8C39-E6EDBEA7B964}" srcId="{01CBF2E6-0DF9-4A46-A959-0D78531BF554}" destId="{4CE01C70-BCB7-4C16-9BAD-1CCC209139F6}" srcOrd="1" destOrd="0" parTransId="{AF65DAE0-39FD-45EB-AB3B-8934D0506B89}" sibTransId="{C518A47E-459F-4787-865E-FD12F72690C8}"/>
    <dgm:cxn modelId="{BDE7C12D-DC3A-4939-B71C-C9A55AFA9E56}" srcId="{AD3F134B-0F41-428A-9AEF-6E57F0814D84}" destId="{01CBF2E6-0DF9-4A46-A959-0D78531BF554}" srcOrd="0" destOrd="0" parTransId="{E6B0D2B8-075F-49D4-9641-9D64F68DF65A}" sibTransId="{A90AFFF5-EEB8-4F8C-99DD-FFCF0769C1F5}"/>
    <dgm:cxn modelId="{019F4A34-5DD9-4471-9622-FD092C82F8A5}" srcId="{A0A8D006-D675-4C27-B182-49FEDCE1E159}" destId="{2E6B4560-F695-4A60-BFC1-3BBE3036E3C8}" srcOrd="2" destOrd="0" parTransId="{77DDDE27-7C45-4D1B-B0E1-18C442F437F6}" sibTransId="{B79AEA75-6B06-4073-8288-DE3C29D0D86C}"/>
    <dgm:cxn modelId="{8E670339-5CD0-49CC-87A9-F4228B17314B}" srcId="{AD3F134B-0F41-428A-9AEF-6E57F0814D84}" destId="{BFF94383-7715-4C25-BDF8-0314A3B48B97}" srcOrd="2" destOrd="0" parTransId="{593C9E05-ED4F-47A2-B93E-9EF1C67299E3}" sibTransId="{EECC57F4-B228-45E4-872C-0C98A2601F8E}"/>
    <dgm:cxn modelId="{2E3A103E-1660-4864-B552-1EF9CA604200}" srcId="{BFF94383-7715-4C25-BDF8-0314A3B48B97}" destId="{7BE8927D-C5DB-4B17-BFB1-8CD843F720F5}" srcOrd="3" destOrd="0" parTransId="{44318949-CB5F-420A-9284-9F3078FCFCE5}" sibTransId="{6D651193-F2E9-4DF7-B192-AA59665CE21C}"/>
    <dgm:cxn modelId="{2254B148-6535-473A-9A8B-9C56137C5CD3}" type="presOf" srcId="{A0A8D006-D675-4C27-B182-49FEDCE1E159}" destId="{5BC12BFA-FE55-4DC6-ACFF-90EED728F669}" srcOrd="0" destOrd="0" presId="urn:microsoft.com/office/officeart/2005/8/layout/chevron2"/>
    <dgm:cxn modelId="{3B1E236F-A5C0-421D-957F-A474FEEE8C0C}" srcId="{BFF94383-7715-4C25-BDF8-0314A3B48B97}" destId="{DCF54EDD-FE9F-4E58-BB30-ACC0CBD10FF6}" srcOrd="2" destOrd="0" parTransId="{D7A89D1B-F8BD-4BB5-9446-F723E88F12E0}" sibTransId="{7685F0D3-62E2-44EF-9E39-8000879E312D}"/>
    <dgm:cxn modelId="{2124936F-FEA9-44BA-BA8E-36EC5FF3CA08}" type="presOf" srcId="{2E6B4560-F695-4A60-BFC1-3BBE3036E3C8}" destId="{770B6E5D-D251-4836-98B2-5401893630D8}" srcOrd="0" destOrd="2" presId="urn:microsoft.com/office/officeart/2005/8/layout/chevron2"/>
    <dgm:cxn modelId="{CC33F377-B5E6-4FCD-8A3A-F8EA283C0DA3}" type="presOf" srcId="{4CE01C70-BCB7-4C16-9BAD-1CCC209139F6}" destId="{43F53009-A34E-4299-8CCC-6D5B9D5D9BB2}" srcOrd="0" destOrd="1" presId="urn:microsoft.com/office/officeart/2005/8/layout/chevron2"/>
    <dgm:cxn modelId="{312B2778-F7CF-45C7-A5E3-AB5CD390246E}" type="presOf" srcId="{AD3F134B-0F41-428A-9AEF-6E57F0814D84}" destId="{FC5C64D3-029F-4134-A87B-BF5D971FAA5A}" srcOrd="0" destOrd="0" presId="urn:microsoft.com/office/officeart/2005/8/layout/chevron2"/>
    <dgm:cxn modelId="{3FB15A7C-A5B0-40A3-9A2E-EAC1D0D46F09}" type="presOf" srcId="{BFF94383-7715-4C25-BDF8-0314A3B48B97}" destId="{C2B23DBC-E2B1-409C-BFBC-C543F7247408}" srcOrd="0" destOrd="0" presId="urn:microsoft.com/office/officeart/2005/8/layout/chevron2"/>
    <dgm:cxn modelId="{8FBF9280-B404-47F3-8432-F1604A78D4DD}" srcId="{A0A8D006-D675-4C27-B182-49FEDCE1E159}" destId="{037E5ABF-5014-484C-BAF9-CF63D965B2D7}" srcOrd="3" destOrd="0" parTransId="{CD54C66E-705C-4526-A03C-14E7AFD2B9D2}" sibTransId="{EEEB106B-B6B1-4B4E-BB23-7546455B7624}"/>
    <dgm:cxn modelId="{761FBE80-F143-45B8-B337-D9EB899E33DE}" type="presOf" srcId="{51BB7CCF-784C-49D1-9B70-6735692A8F02}" destId="{DC04FD6A-5C40-452A-A32C-FC47DBE61CD6}" srcOrd="0" destOrd="0" presId="urn:microsoft.com/office/officeart/2005/8/layout/chevron2"/>
    <dgm:cxn modelId="{E0EAF794-6C13-4CEE-A09C-BDF21872A249}" type="presOf" srcId="{172C44A1-1F72-4844-9AE8-396FA9C7689B}" destId="{43F53009-A34E-4299-8CCC-6D5B9D5D9BB2}" srcOrd="0" destOrd="0" presId="urn:microsoft.com/office/officeart/2005/8/layout/chevron2"/>
    <dgm:cxn modelId="{0538A095-D616-4334-A3D5-D6B35B046952}" type="presOf" srcId="{DCF54EDD-FE9F-4E58-BB30-ACC0CBD10FF6}" destId="{DC04FD6A-5C40-452A-A32C-FC47DBE61CD6}" srcOrd="0" destOrd="2" presId="urn:microsoft.com/office/officeart/2005/8/layout/chevron2"/>
    <dgm:cxn modelId="{85B41896-B423-4356-B954-3E5A0C056A56}" type="presOf" srcId="{01CBF2E6-0DF9-4A46-A959-0D78531BF554}" destId="{5E8265C9-6A7C-4D22-AC1A-DEA6CAD4AA0B}" srcOrd="0" destOrd="0" presId="urn:microsoft.com/office/officeart/2005/8/layout/chevron2"/>
    <dgm:cxn modelId="{693A6597-8603-469F-A246-59573C94DD38}" srcId="{A0A8D006-D675-4C27-B182-49FEDCE1E159}" destId="{7465E84D-EDF8-4742-B663-FCF04E65E032}" srcOrd="0" destOrd="0" parTransId="{B2201A21-878A-40C5-BA40-53F3EED51FBD}" sibTransId="{3734AE16-277C-4873-9477-9BC1D5305A1D}"/>
    <dgm:cxn modelId="{C87BABB3-527D-4955-9E4C-A29BE1CFDC39}" type="presOf" srcId="{037E5ABF-5014-484C-BAF9-CF63D965B2D7}" destId="{770B6E5D-D251-4836-98B2-5401893630D8}" srcOrd="0" destOrd="3" presId="urn:microsoft.com/office/officeart/2005/8/layout/chevron2"/>
    <dgm:cxn modelId="{B29342BB-505F-4DB4-8ED7-50EF983862D1}" srcId="{A0A8D006-D675-4C27-B182-49FEDCE1E159}" destId="{5E7EF65B-C0F3-4B36-ADB8-70A4344A6A5A}" srcOrd="1" destOrd="0" parTransId="{8631E49E-2391-48C4-8BBD-92C757E879E1}" sibTransId="{63D33D8E-BCB6-4F70-B19E-3B77EB140AC7}"/>
    <dgm:cxn modelId="{713E50BC-450B-47F8-BE60-8F8F75411DB6}" type="presOf" srcId="{E38E555C-1612-44D1-8C4F-2766BA74946B}" destId="{43F53009-A34E-4299-8CCC-6D5B9D5D9BB2}" srcOrd="0" destOrd="2" presId="urn:microsoft.com/office/officeart/2005/8/layout/chevron2"/>
    <dgm:cxn modelId="{9676FBBF-BEAC-420E-84A0-F7E7CEB830C7}" type="presOf" srcId="{7465E84D-EDF8-4742-B663-FCF04E65E032}" destId="{770B6E5D-D251-4836-98B2-5401893630D8}" srcOrd="0" destOrd="0" presId="urn:microsoft.com/office/officeart/2005/8/layout/chevron2"/>
    <dgm:cxn modelId="{556B89CB-9BE7-4062-8E2A-B686F0AFAEA3}" srcId="{01CBF2E6-0DF9-4A46-A959-0D78531BF554}" destId="{172C44A1-1F72-4844-9AE8-396FA9C7689B}" srcOrd="0" destOrd="0" parTransId="{21780603-16E4-4EC6-8856-DADB5B0FE907}" sibTransId="{B176B460-1EA9-4A18-B2B9-DAA704CC7FD3}"/>
    <dgm:cxn modelId="{F553DEEC-852B-4AF4-80C5-06B6D1BE560B}" srcId="{AD3F134B-0F41-428A-9AEF-6E57F0814D84}" destId="{A0A8D006-D675-4C27-B182-49FEDCE1E159}" srcOrd="1" destOrd="0" parTransId="{53FF14FF-C1C9-4CDF-BB3C-6FC26D6B8005}" sibTransId="{523C5A38-6A4F-4D8D-9077-A48F089129E0}"/>
    <dgm:cxn modelId="{E8B85FF4-A846-46AF-8F95-C5C31025468A}" type="presOf" srcId="{5E7EF65B-C0F3-4B36-ADB8-70A4344A6A5A}" destId="{770B6E5D-D251-4836-98B2-5401893630D8}" srcOrd="0" destOrd="1" presId="urn:microsoft.com/office/officeart/2005/8/layout/chevron2"/>
    <dgm:cxn modelId="{0BD048F8-FA68-4514-B3D0-1AC0CB756896}" srcId="{01CBF2E6-0DF9-4A46-A959-0D78531BF554}" destId="{E38E555C-1612-44D1-8C4F-2766BA74946B}" srcOrd="2" destOrd="0" parTransId="{7493E5CF-1CF1-459D-AC47-B9F3FA417512}" sibTransId="{30635FB7-8422-47FB-8B49-8C1C6BC3E034}"/>
    <dgm:cxn modelId="{D66E16FF-1712-4E14-A01E-80A236208F56}" type="presOf" srcId="{7BE8927D-C5DB-4B17-BFB1-8CD843F720F5}" destId="{DC04FD6A-5C40-452A-A32C-FC47DBE61CD6}" srcOrd="0" destOrd="3" presId="urn:microsoft.com/office/officeart/2005/8/layout/chevron2"/>
    <dgm:cxn modelId="{916C2147-6453-4B67-AB50-00EF62D4042E}" type="presParOf" srcId="{FC5C64D3-029F-4134-A87B-BF5D971FAA5A}" destId="{3EFCEAAD-6393-4098-9C31-0448A2344E05}" srcOrd="0" destOrd="0" presId="urn:microsoft.com/office/officeart/2005/8/layout/chevron2"/>
    <dgm:cxn modelId="{E6C144A7-1DF2-4B5C-915A-5CE2CE192FB0}" type="presParOf" srcId="{3EFCEAAD-6393-4098-9C31-0448A2344E05}" destId="{5E8265C9-6A7C-4D22-AC1A-DEA6CAD4AA0B}" srcOrd="0" destOrd="0" presId="urn:microsoft.com/office/officeart/2005/8/layout/chevron2"/>
    <dgm:cxn modelId="{13ECE468-59ED-477F-B054-355742131701}" type="presParOf" srcId="{3EFCEAAD-6393-4098-9C31-0448A2344E05}" destId="{43F53009-A34E-4299-8CCC-6D5B9D5D9BB2}" srcOrd="1" destOrd="0" presId="urn:microsoft.com/office/officeart/2005/8/layout/chevron2"/>
    <dgm:cxn modelId="{285E3174-E039-46A1-A9AF-9D7AD66BC600}" type="presParOf" srcId="{FC5C64D3-029F-4134-A87B-BF5D971FAA5A}" destId="{147DF087-96E2-48FF-8302-2569B6F3838A}" srcOrd="1" destOrd="0" presId="urn:microsoft.com/office/officeart/2005/8/layout/chevron2"/>
    <dgm:cxn modelId="{95454C37-2ED6-4209-83BB-03785A644D35}" type="presParOf" srcId="{FC5C64D3-029F-4134-A87B-BF5D971FAA5A}" destId="{C317FB71-4063-4AF7-94B2-DF629478DBA4}" srcOrd="2" destOrd="0" presId="urn:microsoft.com/office/officeart/2005/8/layout/chevron2"/>
    <dgm:cxn modelId="{8EF513C7-B35C-4A35-94F6-02B7AE005183}" type="presParOf" srcId="{C317FB71-4063-4AF7-94B2-DF629478DBA4}" destId="{5BC12BFA-FE55-4DC6-ACFF-90EED728F669}" srcOrd="0" destOrd="0" presId="urn:microsoft.com/office/officeart/2005/8/layout/chevron2"/>
    <dgm:cxn modelId="{4B0E33B5-A91B-44B8-B461-164DB7E95384}" type="presParOf" srcId="{C317FB71-4063-4AF7-94B2-DF629478DBA4}" destId="{770B6E5D-D251-4836-98B2-5401893630D8}" srcOrd="1" destOrd="0" presId="urn:microsoft.com/office/officeart/2005/8/layout/chevron2"/>
    <dgm:cxn modelId="{B1EBE25E-1ABF-4D98-9BD9-8BE553AF461C}" type="presParOf" srcId="{FC5C64D3-029F-4134-A87B-BF5D971FAA5A}" destId="{02050097-39ED-414E-8A91-C9B42BA52798}" srcOrd="3" destOrd="0" presId="urn:microsoft.com/office/officeart/2005/8/layout/chevron2"/>
    <dgm:cxn modelId="{AF3D0727-8533-4617-BB19-7B0A36B70E8F}" type="presParOf" srcId="{FC5C64D3-029F-4134-A87B-BF5D971FAA5A}" destId="{678248F2-DCEE-4CF8-ACF6-E5F1735C9A38}" srcOrd="4" destOrd="0" presId="urn:microsoft.com/office/officeart/2005/8/layout/chevron2"/>
    <dgm:cxn modelId="{6AA96318-77BB-49C3-939F-1BB93A281D76}" type="presParOf" srcId="{678248F2-DCEE-4CF8-ACF6-E5F1735C9A38}" destId="{C2B23DBC-E2B1-409C-BFBC-C543F7247408}" srcOrd="0" destOrd="0" presId="urn:microsoft.com/office/officeart/2005/8/layout/chevron2"/>
    <dgm:cxn modelId="{18501ADA-16AE-4BD7-819A-5035A1A0C86D}" type="presParOf" srcId="{678248F2-DCEE-4CF8-ACF6-E5F1735C9A38}" destId="{DC04FD6A-5C40-452A-A32C-FC47DBE61CD6}"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8265C9-6A7C-4D22-AC1A-DEA6CAD4AA0B}">
      <dsp:nvSpPr>
        <dsp:cNvPr id="0" name=""/>
        <dsp:cNvSpPr/>
      </dsp:nvSpPr>
      <dsp:spPr>
        <a:xfrm rot="5400000">
          <a:off x="-258847" y="404580"/>
          <a:ext cx="1725649" cy="1207954"/>
        </a:xfrm>
        <a:prstGeom prst="chevron">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IN" sz="2400" b="1" kern="1200" dirty="0"/>
            <a:t>Phase 1</a:t>
          </a:r>
        </a:p>
      </dsp:txBody>
      <dsp:txXfrm rot="-5400000">
        <a:off x="1" y="749709"/>
        <a:ext cx="1207954" cy="517695"/>
      </dsp:txXfrm>
    </dsp:sp>
    <dsp:sp modelId="{43F53009-A34E-4299-8CCC-6D5B9D5D9BB2}">
      <dsp:nvSpPr>
        <dsp:cNvPr id="0" name=""/>
        <dsp:cNvSpPr/>
      </dsp:nvSpPr>
      <dsp:spPr>
        <a:xfrm rot="5400000">
          <a:off x="4382532" y="-3158527"/>
          <a:ext cx="1358288" cy="7707445"/>
        </a:xfrm>
        <a:prstGeom prst="round2Same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IN" sz="2000" b="1" kern="1200" dirty="0"/>
            <a:t>Initial Phase (1964-1984)</a:t>
          </a:r>
        </a:p>
        <a:p>
          <a:pPr marL="228600" lvl="1" indent="-228600" algn="l" defTabSz="889000">
            <a:lnSpc>
              <a:spcPct val="90000"/>
            </a:lnSpc>
            <a:spcBef>
              <a:spcPct val="0"/>
            </a:spcBef>
            <a:spcAft>
              <a:spcPct val="15000"/>
            </a:spcAft>
            <a:buChar char="•"/>
          </a:pPr>
          <a:r>
            <a:rPr lang="en-IN" sz="2000" kern="1200" dirty="0"/>
            <a:t>Establishment of </a:t>
          </a:r>
          <a:r>
            <a:rPr lang="en-IN" sz="2000" b="1" kern="1200" dirty="0" err="1"/>
            <a:t>Kandla</a:t>
          </a:r>
          <a:r>
            <a:rPr lang="en-IN" sz="2000" b="1" kern="1200" dirty="0"/>
            <a:t> FTZ </a:t>
          </a:r>
          <a:r>
            <a:rPr lang="en-IN" sz="2000" kern="1200" dirty="0"/>
            <a:t>in 1965 and </a:t>
          </a:r>
          <a:r>
            <a:rPr lang="en-IN" sz="2000" b="1" kern="1200" dirty="0"/>
            <a:t>SEEPZ</a:t>
          </a:r>
          <a:r>
            <a:rPr lang="en-IN" sz="2000" kern="1200" dirty="0"/>
            <a:t> Mumbai in 1973</a:t>
          </a:r>
        </a:p>
        <a:p>
          <a:pPr marL="228600" lvl="1" indent="-228600" algn="l" defTabSz="889000">
            <a:lnSpc>
              <a:spcPct val="90000"/>
            </a:lnSpc>
            <a:spcBef>
              <a:spcPct val="0"/>
            </a:spcBef>
            <a:spcAft>
              <a:spcPct val="15000"/>
            </a:spcAft>
            <a:buChar char="•"/>
          </a:pPr>
          <a:r>
            <a:rPr lang="en-IN" sz="2000" b="1" kern="1200" dirty="0" err="1"/>
            <a:t>Falta</a:t>
          </a:r>
          <a:r>
            <a:rPr lang="en-IN" sz="2000" b="1" kern="1200" dirty="0"/>
            <a:t> EPZ </a:t>
          </a:r>
          <a:r>
            <a:rPr lang="en-IN" sz="2000" kern="1200" dirty="0"/>
            <a:t>established in </a:t>
          </a:r>
          <a:r>
            <a:rPr lang="en-IN" sz="2000" b="1" kern="1200" dirty="0"/>
            <a:t>1984</a:t>
          </a:r>
        </a:p>
      </dsp:txBody>
      <dsp:txXfrm rot="-5400000">
        <a:off x="1207954" y="82357"/>
        <a:ext cx="7641139" cy="1225676"/>
      </dsp:txXfrm>
    </dsp:sp>
    <dsp:sp modelId="{5BC12BFA-FE55-4DC6-ACFF-90EED728F669}">
      <dsp:nvSpPr>
        <dsp:cNvPr id="0" name=""/>
        <dsp:cNvSpPr/>
      </dsp:nvSpPr>
      <dsp:spPr>
        <a:xfrm rot="5400000">
          <a:off x="-258847" y="2266850"/>
          <a:ext cx="1725649" cy="1207954"/>
        </a:xfrm>
        <a:prstGeom prst="chevron">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IN" sz="2400" b="1" kern="1200" dirty="0"/>
            <a:t>Phase 2 &amp; 3</a:t>
          </a:r>
        </a:p>
      </dsp:txBody>
      <dsp:txXfrm rot="-5400000">
        <a:off x="1" y="2611979"/>
        <a:ext cx="1207954" cy="517695"/>
      </dsp:txXfrm>
    </dsp:sp>
    <dsp:sp modelId="{770B6E5D-D251-4836-98B2-5401893630D8}">
      <dsp:nvSpPr>
        <dsp:cNvPr id="0" name=""/>
        <dsp:cNvSpPr/>
      </dsp:nvSpPr>
      <dsp:spPr>
        <a:xfrm rot="5400000">
          <a:off x="4202176" y="-1284588"/>
          <a:ext cx="1719002" cy="7707445"/>
        </a:xfrm>
        <a:prstGeom prst="round2Same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IN" sz="2000" b="1" kern="1200" dirty="0"/>
            <a:t>Expansion and Consolidation Phase (1985-1991 &amp; 1991-2000)</a:t>
          </a:r>
        </a:p>
        <a:p>
          <a:pPr marL="228600" lvl="1" indent="-228600" algn="l" defTabSz="889000">
            <a:lnSpc>
              <a:spcPct val="90000"/>
            </a:lnSpc>
            <a:spcBef>
              <a:spcPct val="0"/>
            </a:spcBef>
            <a:spcAft>
              <a:spcPct val="15000"/>
            </a:spcAft>
            <a:buChar char="•"/>
          </a:pPr>
          <a:r>
            <a:rPr lang="en-IN" sz="2000" b="1" kern="1200" dirty="0"/>
            <a:t>Noida</a:t>
          </a:r>
          <a:r>
            <a:rPr lang="en-IN" sz="2000" kern="1200" dirty="0"/>
            <a:t>, </a:t>
          </a:r>
          <a:r>
            <a:rPr lang="en-IN" sz="2000" b="1" kern="1200" dirty="0"/>
            <a:t>Madras</a:t>
          </a:r>
          <a:r>
            <a:rPr lang="en-IN" sz="2000" kern="1200" dirty="0"/>
            <a:t>, </a:t>
          </a:r>
          <a:r>
            <a:rPr lang="en-IN" sz="2000" b="1" kern="1200" dirty="0" err="1"/>
            <a:t>Cochi</a:t>
          </a:r>
          <a:r>
            <a:rPr lang="en-IN" sz="2000" kern="1200" dirty="0"/>
            <a:t> and </a:t>
          </a:r>
          <a:r>
            <a:rPr lang="en-IN" sz="2000" b="1" kern="1200" dirty="0" err="1"/>
            <a:t>Vizag</a:t>
          </a:r>
          <a:r>
            <a:rPr lang="en-IN" sz="2000" kern="1200" dirty="0"/>
            <a:t> EPZs were established.</a:t>
          </a:r>
        </a:p>
        <a:p>
          <a:pPr marL="228600" lvl="1" indent="-228600" algn="l" defTabSz="889000">
            <a:lnSpc>
              <a:spcPct val="90000"/>
            </a:lnSpc>
            <a:spcBef>
              <a:spcPct val="0"/>
            </a:spcBef>
            <a:spcAft>
              <a:spcPct val="15000"/>
            </a:spcAft>
            <a:buChar char="•"/>
          </a:pPr>
          <a:r>
            <a:rPr lang="en-IN" sz="2000" kern="1200" dirty="0"/>
            <a:t>EOU Scheme introduced.</a:t>
          </a:r>
        </a:p>
        <a:p>
          <a:pPr marL="228600" lvl="1" indent="-228600" algn="l" defTabSz="889000">
            <a:lnSpc>
              <a:spcPct val="90000"/>
            </a:lnSpc>
            <a:spcBef>
              <a:spcPct val="0"/>
            </a:spcBef>
            <a:spcAft>
              <a:spcPct val="15000"/>
            </a:spcAft>
            <a:buChar char="•"/>
          </a:pPr>
          <a:r>
            <a:rPr lang="en-IN" sz="2000" kern="1200" dirty="0"/>
            <a:t>EPZs underwent restructuring, simplification &amp; rationalisation.</a:t>
          </a:r>
        </a:p>
      </dsp:txBody>
      <dsp:txXfrm rot="-5400000">
        <a:off x="1207955" y="1793548"/>
        <a:ext cx="7623530" cy="1551172"/>
      </dsp:txXfrm>
    </dsp:sp>
    <dsp:sp modelId="{C2B23DBC-E2B1-409C-BFBC-C543F7247408}">
      <dsp:nvSpPr>
        <dsp:cNvPr id="0" name=""/>
        <dsp:cNvSpPr/>
      </dsp:nvSpPr>
      <dsp:spPr>
        <a:xfrm rot="5400000">
          <a:off x="-258847" y="4220773"/>
          <a:ext cx="1725649" cy="1207954"/>
        </a:xfrm>
        <a:prstGeom prst="chevron">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IN" sz="2400" b="1" kern="1200" dirty="0"/>
            <a:t>Phase 4</a:t>
          </a:r>
        </a:p>
      </dsp:txBody>
      <dsp:txXfrm rot="-5400000">
        <a:off x="1" y="4565902"/>
        <a:ext cx="1207954" cy="517695"/>
      </dsp:txXfrm>
    </dsp:sp>
    <dsp:sp modelId="{DC04FD6A-5C40-452A-A32C-FC47DBE61CD6}">
      <dsp:nvSpPr>
        <dsp:cNvPr id="0" name=""/>
        <dsp:cNvSpPr/>
      </dsp:nvSpPr>
      <dsp:spPr>
        <a:xfrm rot="5400000">
          <a:off x="4110818" y="669039"/>
          <a:ext cx="1901716" cy="7707445"/>
        </a:xfrm>
        <a:prstGeom prst="round2Same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IN" sz="2000" b="1" kern="1200" dirty="0"/>
            <a:t>Expansionary Growth Phase (Post 2000 to present)</a:t>
          </a:r>
        </a:p>
        <a:p>
          <a:pPr marL="228600" lvl="1" indent="-228600" algn="l" defTabSz="889000">
            <a:lnSpc>
              <a:spcPct val="90000"/>
            </a:lnSpc>
            <a:spcBef>
              <a:spcPct val="0"/>
            </a:spcBef>
            <a:spcAft>
              <a:spcPct val="15000"/>
            </a:spcAft>
            <a:buChar char="•"/>
          </a:pPr>
          <a:r>
            <a:rPr lang="en-IN" sz="2000" kern="1200" dirty="0"/>
            <a:t>New EXIM Policy adopted, leading to conversion of EPZs to SEZs and creation of new SEZs.</a:t>
          </a:r>
        </a:p>
        <a:p>
          <a:pPr marL="228600" lvl="1" indent="-228600" algn="l" defTabSz="889000">
            <a:lnSpc>
              <a:spcPct val="90000"/>
            </a:lnSpc>
            <a:spcBef>
              <a:spcPct val="0"/>
            </a:spcBef>
            <a:spcAft>
              <a:spcPct val="15000"/>
            </a:spcAft>
            <a:buChar char="•"/>
          </a:pPr>
          <a:r>
            <a:rPr lang="en-IN" sz="2000" b="1" kern="1200" dirty="0"/>
            <a:t>SEZ Act </a:t>
          </a:r>
          <a:r>
            <a:rPr lang="en-IN" sz="2000" kern="1200" dirty="0"/>
            <a:t>in </a:t>
          </a:r>
          <a:r>
            <a:rPr lang="en-IN" sz="2000" b="1" kern="1200" dirty="0"/>
            <a:t>2005</a:t>
          </a:r>
          <a:r>
            <a:rPr lang="en-IN" sz="2000" kern="1200" dirty="0"/>
            <a:t> enacted and formulation of </a:t>
          </a:r>
          <a:r>
            <a:rPr lang="en-IN" sz="2000" b="1" kern="1200" dirty="0"/>
            <a:t>SEZ Rules </a:t>
          </a:r>
          <a:r>
            <a:rPr lang="en-IN" sz="2000" kern="1200" dirty="0"/>
            <a:t>in </a:t>
          </a:r>
          <a:r>
            <a:rPr lang="en-IN" sz="2000" b="1" kern="1200" dirty="0"/>
            <a:t>2006</a:t>
          </a:r>
          <a:r>
            <a:rPr lang="en-IN" sz="2000" kern="1200" dirty="0"/>
            <a:t>. </a:t>
          </a:r>
        </a:p>
        <a:p>
          <a:pPr marL="228600" lvl="1" indent="-228600" algn="l" defTabSz="889000">
            <a:lnSpc>
              <a:spcPct val="90000"/>
            </a:lnSpc>
            <a:spcBef>
              <a:spcPct val="0"/>
            </a:spcBef>
            <a:spcAft>
              <a:spcPct val="15000"/>
            </a:spcAft>
            <a:buChar char="•"/>
          </a:pPr>
          <a:r>
            <a:rPr lang="en-IN" sz="2000" kern="1200" dirty="0"/>
            <a:t>Presently, </a:t>
          </a:r>
          <a:r>
            <a:rPr lang="en-IN" sz="2000" b="1" kern="1200" dirty="0"/>
            <a:t>379</a:t>
          </a:r>
          <a:r>
            <a:rPr lang="en-IN" sz="2000" kern="1200" dirty="0"/>
            <a:t> notified SEZs, out of which, </a:t>
          </a:r>
          <a:r>
            <a:rPr lang="en-IN" sz="2000" b="1" kern="1200" dirty="0"/>
            <a:t>267</a:t>
          </a:r>
          <a:r>
            <a:rPr lang="en-IN" sz="2000" kern="1200" dirty="0"/>
            <a:t> are operational SEZs, covering total 47480 hectares of area.</a:t>
          </a:r>
        </a:p>
      </dsp:txBody>
      <dsp:txXfrm rot="-5400000">
        <a:off x="1207954" y="3664737"/>
        <a:ext cx="7614611" cy="1716048"/>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0.31833</cdr:x>
      <cdr:y>0</cdr:y>
    </cdr:from>
    <cdr:to>
      <cdr:x>0.595</cdr:x>
      <cdr:y>0.05797</cdr:y>
    </cdr:to>
    <cdr:sp macro="" textlink="">
      <cdr:nvSpPr>
        <cdr:cNvPr id="2" name="TextBox 1"/>
        <cdr:cNvSpPr txBox="1"/>
      </cdr:nvSpPr>
      <cdr:spPr>
        <a:xfrm xmlns:a="http://schemas.openxmlformats.org/drawingml/2006/main">
          <a:off x="1819275" y="0"/>
          <a:ext cx="1581150" cy="228600"/>
        </a:xfrm>
        <a:prstGeom xmlns:a="http://schemas.openxmlformats.org/drawingml/2006/main" prst="rect">
          <a:avLst/>
        </a:prstGeom>
      </cdr:spPr>
      <cdr:txBody>
        <a:bodyPr xmlns:a="http://schemas.openxmlformats.org/drawingml/2006/main" wrap="square" rtlCol="0"/>
        <a:lstStyle xmlns:a="http://schemas.openxmlformats.org/drawingml/2006/main"/>
        <a:p xmlns:a="http://schemas.openxmlformats.org/drawingml/2006/main">
          <a:endParaRPr lang="en-IN" sz="110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 y="1"/>
            <a:ext cx="2919413" cy="493714"/>
          </a:xfrm>
          <a:prstGeom prst="rect">
            <a:avLst/>
          </a:prstGeom>
        </p:spPr>
        <p:txBody>
          <a:bodyPr vert="horz" lIns="90319" tIns="45159" rIns="90319" bIns="45159" rtlCol="0"/>
          <a:lstStyle>
            <a:lvl1pPr algn="l">
              <a:defRPr sz="1200"/>
            </a:lvl1pPr>
          </a:lstStyle>
          <a:p>
            <a:endParaRPr lang="en-US"/>
          </a:p>
        </p:txBody>
      </p:sp>
      <p:sp>
        <p:nvSpPr>
          <p:cNvPr id="3" name="Date Placeholder 2"/>
          <p:cNvSpPr>
            <a:spLocks noGrp="1"/>
          </p:cNvSpPr>
          <p:nvPr>
            <p:ph type="dt" idx="1"/>
          </p:nvPr>
        </p:nvSpPr>
        <p:spPr>
          <a:xfrm>
            <a:off x="3814764" y="1"/>
            <a:ext cx="2919412" cy="493714"/>
          </a:xfrm>
          <a:prstGeom prst="rect">
            <a:avLst/>
          </a:prstGeom>
        </p:spPr>
        <p:txBody>
          <a:bodyPr vert="horz" lIns="90319" tIns="45159" rIns="90319" bIns="45159" rtlCol="0"/>
          <a:lstStyle>
            <a:lvl1pPr algn="r">
              <a:defRPr sz="1200"/>
            </a:lvl1pPr>
          </a:lstStyle>
          <a:p>
            <a:fld id="{A449F455-F70E-4A45-80D9-66B163673151}" type="datetimeFigureOut">
              <a:rPr lang="en-US" smtClean="0"/>
              <a:pPr/>
              <a:t>8/29/2023</a:t>
            </a:fld>
            <a:endParaRPr lang="en-US"/>
          </a:p>
        </p:txBody>
      </p:sp>
      <p:sp>
        <p:nvSpPr>
          <p:cNvPr id="4" name="Slide Image Placeholder 3"/>
          <p:cNvSpPr>
            <a:spLocks noGrp="1" noRot="1" noChangeAspect="1"/>
          </p:cNvSpPr>
          <p:nvPr>
            <p:ph type="sldImg" idx="2"/>
          </p:nvPr>
        </p:nvSpPr>
        <p:spPr>
          <a:xfrm>
            <a:off x="901700" y="739775"/>
            <a:ext cx="4932363" cy="3700463"/>
          </a:xfrm>
          <a:prstGeom prst="rect">
            <a:avLst/>
          </a:prstGeom>
          <a:noFill/>
          <a:ln w="12700">
            <a:solidFill>
              <a:prstClr val="black"/>
            </a:solidFill>
          </a:ln>
        </p:spPr>
        <p:txBody>
          <a:bodyPr vert="horz" lIns="90319" tIns="45159" rIns="90319" bIns="45159" rtlCol="0" anchor="ctr"/>
          <a:lstStyle/>
          <a:p>
            <a:endParaRPr lang="en-US"/>
          </a:p>
        </p:txBody>
      </p:sp>
      <p:sp>
        <p:nvSpPr>
          <p:cNvPr id="5" name="Notes Placeholder 4"/>
          <p:cNvSpPr>
            <a:spLocks noGrp="1"/>
          </p:cNvSpPr>
          <p:nvPr>
            <p:ph type="body" sz="quarter" idx="3"/>
          </p:nvPr>
        </p:nvSpPr>
        <p:spPr>
          <a:xfrm>
            <a:off x="673102" y="4686299"/>
            <a:ext cx="5389563" cy="4440239"/>
          </a:xfrm>
          <a:prstGeom prst="rect">
            <a:avLst/>
          </a:prstGeom>
        </p:spPr>
        <p:txBody>
          <a:bodyPr vert="horz" lIns="90319" tIns="45159" rIns="90319" bIns="4515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3" y="9371013"/>
            <a:ext cx="2919413" cy="493713"/>
          </a:xfrm>
          <a:prstGeom prst="rect">
            <a:avLst/>
          </a:prstGeom>
        </p:spPr>
        <p:txBody>
          <a:bodyPr vert="horz" lIns="90319" tIns="45159" rIns="90319" bIns="45159" rtlCol="0" anchor="b"/>
          <a:lstStyle>
            <a:lvl1pPr algn="l">
              <a:defRPr sz="1200"/>
            </a:lvl1pPr>
          </a:lstStyle>
          <a:p>
            <a:endParaRPr lang="en-US"/>
          </a:p>
        </p:txBody>
      </p:sp>
      <p:sp>
        <p:nvSpPr>
          <p:cNvPr id="7" name="Slide Number Placeholder 6"/>
          <p:cNvSpPr>
            <a:spLocks noGrp="1"/>
          </p:cNvSpPr>
          <p:nvPr>
            <p:ph type="sldNum" sz="quarter" idx="5"/>
          </p:nvPr>
        </p:nvSpPr>
        <p:spPr>
          <a:xfrm>
            <a:off x="3814764" y="9371013"/>
            <a:ext cx="2919412" cy="493713"/>
          </a:xfrm>
          <a:prstGeom prst="rect">
            <a:avLst/>
          </a:prstGeom>
        </p:spPr>
        <p:txBody>
          <a:bodyPr vert="horz" lIns="90319" tIns="45159" rIns="90319" bIns="45159" rtlCol="0" anchor="b"/>
          <a:lstStyle>
            <a:lvl1pPr algn="r">
              <a:defRPr sz="1200"/>
            </a:lvl1pPr>
          </a:lstStyle>
          <a:p>
            <a:fld id="{5085D651-2524-4671-ABE1-67DEF12975E0}" type="slidenum">
              <a:rPr lang="en-US" smtClean="0"/>
              <a:pPr/>
              <a:t>‹#›</a:t>
            </a:fld>
            <a:endParaRPr lang="en-US"/>
          </a:p>
        </p:txBody>
      </p:sp>
    </p:spTree>
    <p:extLst>
      <p:ext uri="{BB962C8B-B14F-4D97-AF65-F5344CB8AC3E}">
        <p14:creationId xmlns:p14="http://schemas.microsoft.com/office/powerpoint/2010/main" val="372757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5085D651-2524-4671-ABE1-67DEF12975E0}" type="slidenum">
              <a:rPr lang="en-US" smtClean="0"/>
              <a:pPr/>
              <a:t>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8/29/2023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2590800"/>
            <a:ext cx="7772400" cy="1457332"/>
          </a:xfrm>
        </p:spPr>
        <p:txBody>
          <a:bodyPr>
            <a:normAutofit fontScale="90000"/>
          </a:bodyPr>
          <a:lstStyle/>
          <a:p>
            <a:r>
              <a:rPr lang="en-US" sz="4000" b="1" dirty="0">
                <a:solidFill>
                  <a:schemeClr val="tx1">
                    <a:lumMod val="85000"/>
                    <a:lumOff val="15000"/>
                  </a:schemeClr>
                </a:solidFill>
              </a:rPr>
              <a:t>SPECIAL ECONOMIC ZONE </a:t>
            </a:r>
            <a:br>
              <a:rPr lang="en-US" sz="4000" b="1" dirty="0">
                <a:solidFill>
                  <a:schemeClr val="tx1">
                    <a:lumMod val="85000"/>
                    <a:lumOff val="15000"/>
                  </a:schemeClr>
                </a:solidFill>
              </a:rPr>
            </a:br>
            <a:r>
              <a:rPr lang="en-US" sz="3100" b="1" dirty="0">
                <a:solidFill>
                  <a:schemeClr val="tx1">
                    <a:lumMod val="85000"/>
                    <a:lumOff val="15000"/>
                  </a:schemeClr>
                </a:solidFill>
              </a:rPr>
              <a:t>A PERSPECTIVE VIEW</a:t>
            </a:r>
            <a:br>
              <a:rPr lang="en-US" sz="3100" b="1" dirty="0">
                <a:solidFill>
                  <a:schemeClr val="tx1">
                    <a:lumMod val="85000"/>
                    <a:lumOff val="15000"/>
                  </a:schemeClr>
                </a:solidFill>
              </a:rPr>
            </a:br>
            <a:endParaRPr lang="en-US" sz="4000" b="1" dirty="0"/>
          </a:p>
        </p:txBody>
      </p:sp>
      <p:sp>
        <p:nvSpPr>
          <p:cNvPr id="3" name="Subtitle 2"/>
          <p:cNvSpPr>
            <a:spLocks noGrp="1"/>
          </p:cNvSpPr>
          <p:nvPr>
            <p:ph type="subTitle" idx="1"/>
          </p:nvPr>
        </p:nvSpPr>
        <p:spPr>
          <a:xfrm>
            <a:off x="928662" y="3929066"/>
            <a:ext cx="7286676" cy="2571768"/>
          </a:xfrm>
        </p:spPr>
        <p:txBody>
          <a:bodyPr>
            <a:normAutofit fontScale="47500" lnSpcReduction="20000"/>
          </a:bodyPr>
          <a:lstStyle/>
          <a:p>
            <a:r>
              <a:rPr lang="en-US" dirty="0"/>
              <a:t>-</a:t>
            </a:r>
          </a:p>
          <a:p>
            <a:r>
              <a:rPr lang="en-US" sz="5000" b="1" dirty="0"/>
              <a:t>Office of the </a:t>
            </a:r>
          </a:p>
          <a:p>
            <a:r>
              <a:rPr lang="en-US" sz="5000" b="1" dirty="0"/>
              <a:t>Zonal Development Commissioner, FSEZ</a:t>
            </a:r>
          </a:p>
          <a:p>
            <a:r>
              <a:rPr lang="en-US" sz="5000" b="1" dirty="0"/>
              <a:t>For SEZs and EOUs in East and North Eastern Region</a:t>
            </a:r>
          </a:p>
          <a:p>
            <a:r>
              <a:rPr lang="en-US" sz="5000" b="1" dirty="0"/>
              <a:t>Ministry of Commerce &amp; Industry</a:t>
            </a:r>
          </a:p>
          <a:p>
            <a:r>
              <a:rPr lang="en-US" sz="5000" b="1" dirty="0"/>
              <a:t>Government of India</a:t>
            </a:r>
          </a:p>
          <a:p>
            <a:endParaRPr lang="en-US" sz="5000" dirty="0"/>
          </a:p>
          <a:p>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91156" y="214290"/>
            <a:ext cx="2803904" cy="221457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12" y="116632"/>
            <a:ext cx="929015" cy="1623044"/>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15206" y="214290"/>
            <a:ext cx="1710111" cy="159508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5984" y="142852"/>
            <a:ext cx="4214842" cy="857272"/>
          </a:xfrm>
        </p:spPr>
        <p:txBody>
          <a:bodyPr>
            <a:normAutofit/>
          </a:bodyPr>
          <a:lstStyle/>
          <a:p>
            <a:r>
              <a:rPr lang="en-US" sz="3200" dirty="0"/>
              <a:t>The Indian scenario</a:t>
            </a:r>
          </a:p>
        </p:txBody>
      </p:sp>
      <p:sp>
        <p:nvSpPr>
          <p:cNvPr id="3" name="Content Placeholder 2"/>
          <p:cNvSpPr>
            <a:spLocks noGrp="1"/>
          </p:cNvSpPr>
          <p:nvPr>
            <p:ph idx="1"/>
          </p:nvPr>
        </p:nvSpPr>
        <p:spPr>
          <a:xfrm>
            <a:off x="457200" y="1000108"/>
            <a:ext cx="8229600" cy="5500726"/>
          </a:xfrm>
        </p:spPr>
        <p:txBody>
          <a:bodyPr>
            <a:normAutofit fontScale="70000" lnSpcReduction="20000"/>
          </a:bodyPr>
          <a:lstStyle/>
          <a:p>
            <a:pPr algn="just"/>
            <a:r>
              <a:rPr lang="en-US" dirty="0"/>
              <a:t>India was one of the first countries in the South Asian region to adopt SEZs, establishing an EPZ in 1965. </a:t>
            </a:r>
          </a:p>
          <a:p>
            <a:pPr algn="just">
              <a:buNone/>
            </a:pPr>
            <a:endParaRPr lang="en-US" dirty="0"/>
          </a:p>
          <a:p>
            <a:pPr algn="just"/>
            <a:r>
              <a:rPr lang="en-US" dirty="0">
                <a:solidFill>
                  <a:srgbClr val="FF0000"/>
                </a:solidFill>
              </a:rPr>
              <a:t>In the 1990s, in the context of economic liberalization, many of the controls that had stymied SEZ operations in the 70s were removed. A new EXIM policy introduced in 2000 permitted state governments as well as the private sector to establish SEZs. </a:t>
            </a:r>
          </a:p>
          <a:p>
            <a:pPr algn="just"/>
            <a:endParaRPr lang="en-US" dirty="0"/>
          </a:p>
          <a:p>
            <a:pPr algn="just"/>
            <a:r>
              <a:rPr lang="en-US" dirty="0"/>
              <a:t>The SEZ Act in 2005 aimed to push private sector investment to support industrial development. The Act converted EPZs to SEZs and clarified the rules for establishing other SEZs, resulting in a proliferation of new zone plans.</a:t>
            </a:r>
          </a:p>
          <a:p>
            <a:pPr algn="just">
              <a:buNone/>
            </a:pPr>
            <a:endParaRPr lang="en-US" dirty="0"/>
          </a:p>
          <a:p>
            <a:pPr algn="just"/>
            <a:r>
              <a:rPr lang="en-US" dirty="0">
                <a:solidFill>
                  <a:srgbClr val="FF0000"/>
                </a:solidFill>
              </a:rPr>
              <a:t>Today, 267 SEZs are operational, around 65% of which specialize in ICT-related manufacturing and services. Because of the country’s economic progress, the present policy has been changed and is continuously evolving in a manner, so as to, give more freedom to both the business fraternity and the SEZ objectives.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rmAutofit/>
          </a:bodyPr>
          <a:lstStyle/>
          <a:p>
            <a:r>
              <a:rPr lang="en-IN" sz="3600" dirty="0"/>
              <a:t>Historical Trend of SEZs in India</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206717123"/>
              </p:ext>
            </p:extLst>
          </p:nvPr>
        </p:nvGraphicFramePr>
        <p:xfrm>
          <a:off x="152400" y="990600"/>
          <a:ext cx="8915400" cy="5715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005408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p:blipFill>
        <p:spPr>
          <a:xfrm>
            <a:off x="152400" y="2445390"/>
            <a:ext cx="3421297" cy="4223590"/>
          </a:xfrm>
          <a:solidFill>
            <a:schemeClr val="bg1"/>
          </a:solidFill>
          <a:ln w="3175">
            <a:solidFill>
              <a:schemeClr val="bg1">
                <a:lumMod val="65000"/>
              </a:schemeClr>
            </a:solidFill>
          </a:ln>
        </p:spPr>
      </p:pic>
      <p:pic>
        <p:nvPicPr>
          <p:cNvPr id="6451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4817407" y="83645"/>
            <a:ext cx="4219089" cy="6657723"/>
          </a:xfrm>
          <a:prstGeom prst="rect">
            <a:avLst/>
          </a:prstGeom>
          <a:noFill/>
          <a:ln w="3175">
            <a:solidFill>
              <a:schemeClr val="bg1">
                <a:lumMod val="50000"/>
              </a:scheme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ight Arrow 4"/>
          <p:cNvSpPr/>
          <p:nvPr/>
        </p:nvSpPr>
        <p:spPr>
          <a:xfrm rot="20237900">
            <a:off x="3711549" y="3280573"/>
            <a:ext cx="1004772" cy="9160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p:cNvSpPr/>
          <p:nvPr/>
        </p:nvSpPr>
        <p:spPr>
          <a:xfrm>
            <a:off x="152400" y="457200"/>
            <a:ext cx="4267200" cy="1754326"/>
          </a:xfrm>
          <a:prstGeom prst="rect">
            <a:avLst/>
          </a:prstGeom>
          <a:noFill/>
        </p:spPr>
        <p:txBody>
          <a:bodyPr wrap="square" lIns="91440" tIns="45720" rIns="91440" bIns="45720">
            <a:spAutoFit/>
          </a:bodyPr>
          <a:lstStyle/>
          <a:p>
            <a:pPr algn="ctr"/>
            <a:r>
              <a:rPr lang="en-US" sz="5400" b="1" cap="none" spc="0"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rPr>
              <a:t>Jurisdiction of </a:t>
            </a:r>
            <a:r>
              <a:rPr lang="en-US" sz="5400" b="1" cap="none" spc="0" dirty="0" err="1">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rPr>
              <a:t>Falta</a:t>
            </a:r>
            <a:r>
              <a:rPr lang="en-US" sz="5400" b="1" cap="none" spc="0"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rPr>
              <a:t> SEZ</a:t>
            </a:r>
          </a:p>
        </p:txBody>
      </p:sp>
    </p:spTree>
    <p:extLst>
      <p:ext uri="{BB962C8B-B14F-4D97-AF65-F5344CB8AC3E}">
        <p14:creationId xmlns:p14="http://schemas.microsoft.com/office/powerpoint/2010/main" val="2437952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FC686-4073-4C51-BFDA-0647EC651AF1}"/>
              </a:ext>
            </a:extLst>
          </p:cNvPr>
          <p:cNvSpPr>
            <a:spLocks noGrp="1"/>
          </p:cNvSpPr>
          <p:nvPr>
            <p:ph type="title"/>
          </p:nvPr>
        </p:nvSpPr>
        <p:spPr>
          <a:xfrm>
            <a:off x="457200" y="44624"/>
            <a:ext cx="8229600" cy="1512168"/>
          </a:xfrm>
        </p:spPr>
        <p:txBody>
          <a:bodyPr>
            <a:normAutofit fontScale="90000"/>
          </a:bodyPr>
          <a:lstStyle/>
          <a:p>
            <a:br>
              <a:rPr lang="en-US" sz="3100" dirty="0">
                <a:solidFill>
                  <a:srgbClr val="00B050"/>
                </a:solidFill>
              </a:rPr>
            </a:br>
            <a:br>
              <a:rPr lang="en-US" sz="3100" dirty="0">
                <a:solidFill>
                  <a:srgbClr val="00B050"/>
                </a:solidFill>
              </a:rPr>
            </a:br>
            <a:r>
              <a:rPr lang="en-US" sz="3100" dirty="0">
                <a:solidFill>
                  <a:srgbClr val="00B050"/>
                </a:solidFill>
              </a:rPr>
              <a:t>New SEZs in Last three years</a:t>
            </a:r>
            <a:br>
              <a:rPr lang="en-US" sz="2700" dirty="0"/>
            </a:br>
            <a:r>
              <a:rPr lang="en-IN" sz="3200" dirty="0">
                <a:latin typeface="Calibri" panose="020F0502020204030204" pitchFamily="34" charset="0"/>
                <a:ea typeface="Times New Roman" panose="02020603050405020304" pitchFamily="18" charset="0"/>
                <a:cs typeface="Times New Roman" panose="02020603050405020304" pitchFamily="18" charset="0"/>
              </a:rPr>
              <a:t>20th August 2019 -</a:t>
            </a:r>
            <a:r>
              <a:rPr lang="en-IN" sz="3100" b="1" dirty="0">
                <a:solidFill>
                  <a:srgbClr val="FF0000"/>
                </a:solidFill>
                <a:latin typeface="Calibri" panose="020F0502020204030204" pitchFamily="34" charset="0"/>
                <a:ea typeface="Times New Roman" panose="02020603050405020304" pitchFamily="18" charset="0"/>
                <a:cs typeface="Times New Roman" panose="02020603050405020304" pitchFamily="18" charset="0"/>
              </a:rPr>
              <a:t>Adani Power (Jharkhand) Ltd  SEZ : </a:t>
            </a:r>
            <a:br>
              <a:rPr lang="en-IN" sz="3100" b="1" dirty="0">
                <a:solidFill>
                  <a:srgbClr val="FF0000"/>
                </a:solidFill>
                <a:latin typeface="Calibri" panose="020F0502020204030204" pitchFamily="34" charset="0"/>
                <a:ea typeface="Times New Roman" panose="02020603050405020304" pitchFamily="18" charset="0"/>
                <a:cs typeface="Times New Roman" panose="02020603050405020304" pitchFamily="18" charset="0"/>
              </a:rPr>
            </a:br>
            <a:r>
              <a:rPr lang="en-IN" sz="3100" b="1" dirty="0" err="1">
                <a:solidFill>
                  <a:srgbClr val="FF0000"/>
                </a:solidFill>
                <a:effectLst/>
                <a:latin typeface="Calibri" panose="020F0502020204030204" pitchFamily="34" charset="0"/>
                <a:ea typeface="Times New Roman" panose="02020603050405020304" pitchFamily="18" charset="0"/>
                <a:cs typeface="Times New Roman" panose="02020603050405020304" pitchFamily="18" charset="0"/>
              </a:rPr>
              <a:t>Godda</a:t>
            </a:r>
            <a:r>
              <a:rPr lang="en-IN" sz="3100" b="1" dirty="0">
                <a:solidFill>
                  <a:srgbClr val="FF0000"/>
                </a:solidFill>
                <a:effectLst/>
                <a:latin typeface="Calibri" panose="020F0502020204030204" pitchFamily="34" charset="0"/>
                <a:ea typeface="Times New Roman" panose="02020603050405020304" pitchFamily="18" charset="0"/>
                <a:cs typeface="Times New Roman" panose="02020603050405020304" pitchFamily="18" charset="0"/>
              </a:rPr>
              <a:t> District, Jharkhand</a:t>
            </a:r>
            <a:br>
              <a:rPr lang="en-IN" sz="4400" dirty="0">
                <a:effectLst/>
                <a:latin typeface="Calibri" panose="020F0502020204030204" pitchFamily="34" charset="0"/>
                <a:ea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09D1BE0E-8721-408B-A493-A9624634F6B2}"/>
              </a:ext>
            </a:extLst>
          </p:cNvPr>
          <p:cNvSpPr>
            <a:spLocks noGrp="1"/>
          </p:cNvSpPr>
          <p:nvPr>
            <p:ph idx="1"/>
          </p:nvPr>
        </p:nvSpPr>
        <p:spPr>
          <a:xfrm>
            <a:off x="457200" y="1844824"/>
            <a:ext cx="8229600" cy="4608512"/>
          </a:xfrm>
        </p:spPr>
        <p:txBody>
          <a:bodyPr>
            <a:normAutofit/>
          </a:bodyPr>
          <a:lstStyle/>
          <a:p>
            <a:pPr marL="342900" lvl="0" indent="-342900" algn="just">
              <a:lnSpc>
                <a:spcPct val="115000"/>
              </a:lnSpc>
              <a:buFont typeface="+mj-lt"/>
              <a:buAutoNum type="arabicPeriod"/>
            </a:pPr>
            <a:endParaRPr lang="en-IN" sz="24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a:lnSpc>
                <a:spcPct val="115000"/>
              </a:lnSpc>
              <a:buFont typeface="+mj-lt"/>
              <a:buAutoNum type="arabicPeriod"/>
            </a:pPr>
            <a:r>
              <a:rPr lang="en-IN" sz="2400" dirty="0">
                <a:effectLst/>
                <a:latin typeface="Calibri" panose="020F0502020204030204" pitchFamily="34" charset="0"/>
                <a:ea typeface="Times New Roman" panose="02020603050405020304" pitchFamily="18" charset="0"/>
                <a:cs typeface="Times New Roman" panose="02020603050405020304" pitchFamily="18" charset="0"/>
              </a:rPr>
              <a:t>Sector Specific Power SEZ </a:t>
            </a:r>
          </a:p>
          <a:p>
            <a:pPr marL="342900" lvl="0" indent="-342900" algn="just">
              <a:lnSpc>
                <a:spcPct val="115000"/>
              </a:lnSpc>
              <a:buFont typeface="+mj-lt"/>
              <a:buAutoNum type="arabicPeriod"/>
            </a:pPr>
            <a:r>
              <a:rPr lang="en-IN" sz="2400" dirty="0">
                <a:effectLst/>
                <a:latin typeface="Calibri" panose="020F0502020204030204" pitchFamily="34" charset="0"/>
                <a:ea typeface="Times New Roman" panose="02020603050405020304" pitchFamily="18" charset="0"/>
                <a:cs typeface="Times New Roman" panose="02020603050405020304" pitchFamily="18" charset="0"/>
              </a:rPr>
              <a:t>Land Area: 222.668 Hectares.</a:t>
            </a:r>
          </a:p>
          <a:p>
            <a:pPr marL="342900" lvl="0" indent="-342900" algn="just">
              <a:lnSpc>
                <a:spcPct val="115000"/>
              </a:lnSpc>
              <a:buFont typeface="+mj-lt"/>
              <a:buAutoNum type="arabicPeriod"/>
            </a:pPr>
            <a:r>
              <a:rPr lang="en-IN" sz="2400" dirty="0">
                <a:effectLst/>
                <a:latin typeface="Calibri" panose="020F0502020204030204" pitchFamily="34" charset="0"/>
                <a:ea typeface="Times New Roman" panose="02020603050405020304" pitchFamily="18" charset="0"/>
                <a:cs typeface="Times New Roman" panose="02020603050405020304" pitchFamily="18" charset="0"/>
              </a:rPr>
              <a:t>Proposed Investment : Rs. 14,817 Crores </a:t>
            </a:r>
          </a:p>
          <a:p>
            <a:pPr marL="342900" lvl="0" indent="-342900" algn="just">
              <a:lnSpc>
                <a:spcPct val="115000"/>
              </a:lnSpc>
              <a:buFont typeface="+mj-lt"/>
              <a:buAutoNum type="arabicPeriod"/>
            </a:pPr>
            <a:r>
              <a:rPr lang="en-IN" sz="2400" dirty="0">
                <a:effectLst/>
                <a:latin typeface="Calibri" panose="020F0502020204030204" pitchFamily="34" charset="0"/>
                <a:ea typeface="Times New Roman" panose="02020603050405020304" pitchFamily="18" charset="0"/>
                <a:cs typeface="Times New Roman" panose="02020603050405020304" pitchFamily="18" charset="0"/>
              </a:rPr>
              <a:t>Direct Employment Proposed: Men-5800,Women-200 </a:t>
            </a:r>
          </a:p>
          <a:p>
            <a:pPr marL="342900" lvl="0" indent="-342900" algn="just">
              <a:lnSpc>
                <a:spcPct val="115000"/>
              </a:lnSpc>
              <a:buFont typeface="+mj-lt"/>
              <a:buAutoNum type="arabicPeriod"/>
            </a:pPr>
            <a:r>
              <a:rPr lang="en-IN" sz="2400" dirty="0">
                <a:effectLst/>
                <a:latin typeface="Calibri" panose="020F0502020204030204" pitchFamily="34" charset="0"/>
                <a:ea typeface="Times New Roman" panose="02020603050405020304" pitchFamily="18" charset="0"/>
                <a:cs typeface="Times New Roman" panose="02020603050405020304" pitchFamily="18" charset="0"/>
              </a:rPr>
              <a:t>Project: Ultra Super Critical Thermal Power Project, units of    2 X 800 MW, Complete Power is proposed to be Exported sale to Bangladesh Govt. </a:t>
            </a:r>
          </a:p>
          <a:p>
            <a:pPr marL="114300" indent="0" algn="just">
              <a:lnSpc>
                <a:spcPct val="115000"/>
              </a:lnSpc>
              <a:spcAft>
                <a:spcPts val="1000"/>
              </a:spcAft>
              <a:buNone/>
            </a:pPr>
            <a:r>
              <a:rPr lang="en-IN" sz="2400" dirty="0">
                <a:effectLst/>
                <a:latin typeface="Calibri" panose="020F0502020204030204" pitchFamily="34" charset="0"/>
                <a:ea typeface="Times New Roman" panose="02020603050405020304" pitchFamily="18" charset="0"/>
                <a:cs typeface="Times New Roman" panose="02020603050405020304" pitchFamily="18" charset="0"/>
              </a:rPr>
              <a:t>	</a:t>
            </a:r>
          </a:p>
          <a:p>
            <a:pPr marL="0" indent="0">
              <a:buNone/>
            </a:pPr>
            <a:endParaRPr lang="en-IN" dirty="0"/>
          </a:p>
        </p:txBody>
      </p:sp>
    </p:spTree>
    <p:extLst>
      <p:ext uri="{BB962C8B-B14F-4D97-AF65-F5344CB8AC3E}">
        <p14:creationId xmlns:p14="http://schemas.microsoft.com/office/powerpoint/2010/main" val="31669231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5D552-706E-4175-9DEF-6EB9E24A2DF9}"/>
              </a:ext>
            </a:extLst>
          </p:cNvPr>
          <p:cNvSpPr>
            <a:spLocks noGrp="1"/>
          </p:cNvSpPr>
          <p:nvPr>
            <p:ph type="title"/>
          </p:nvPr>
        </p:nvSpPr>
        <p:spPr>
          <a:xfrm>
            <a:off x="457200" y="188640"/>
            <a:ext cx="8147248" cy="1224136"/>
          </a:xfrm>
        </p:spPr>
        <p:txBody>
          <a:bodyPr>
            <a:noAutofit/>
          </a:bodyPr>
          <a:lstStyle/>
          <a:p>
            <a:br>
              <a:rPr lang="en-IN" sz="3600" b="1" dirty="0">
                <a:latin typeface="Calibri" panose="020F0502020204030204" pitchFamily="34" charset="0"/>
                <a:ea typeface="Times New Roman" panose="02020603050405020304" pitchFamily="18" charset="0"/>
                <a:cs typeface="Times New Roman" panose="02020603050405020304" pitchFamily="18" charset="0"/>
              </a:rPr>
            </a:br>
            <a:r>
              <a:rPr lang="en-IN" sz="3600" dirty="0">
                <a:effectLst/>
                <a:latin typeface="Calibri" panose="020F0502020204030204" pitchFamily="34" charset="0"/>
                <a:ea typeface="Times New Roman" panose="02020603050405020304" pitchFamily="18" charset="0"/>
                <a:cs typeface="Times New Roman" panose="02020603050405020304" pitchFamily="18" charset="0"/>
              </a:rPr>
              <a:t>16.12.2019 - </a:t>
            </a:r>
            <a:r>
              <a:rPr lang="en-IN" sz="3600" b="1" dirty="0" err="1">
                <a:solidFill>
                  <a:srgbClr val="FF0000"/>
                </a:solidFill>
                <a:effectLst/>
                <a:latin typeface="Calibri" panose="020F0502020204030204" pitchFamily="34" charset="0"/>
                <a:ea typeface="Times New Roman" panose="02020603050405020304" pitchFamily="18" charset="0"/>
                <a:cs typeface="Times New Roman" panose="02020603050405020304" pitchFamily="18" charset="0"/>
              </a:rPr>
              <a:t>Agro</a:t>
            </a:r>
            <a:r>
              <a:rPr lang="en-IN" sz="3600" b="1" dirty="0">
                <a:solidFill>
                  <a:srgbClr val="FF0000"/>
                </a:solidFill>
                <a:effectLst/>
                <a:latin typeface="Calibri" panose="020F0502020204030204" pitchFamily="34" charset="0"/>
                <a:ea typeface="Times New Roman" panose="02020603050405020304" pitchFamily="18" charset="0"/>
                <a:cs typeface="Times New Roman" panose="02020603050405020304" pitchFamily="18" charset="0"/>
              </a:rPr>
              <a:t> Based SEZ,</a:t>
            </a:r>
            <a:br>
              <a:rPr lang="en-IN" sz="3600" b="1" dirty="0">
                <a:solidFill>
                  <a:srgbClr val="FF0000"/>
                </a:solidFill>
                <a:effectLst/>
                <a:latin typeface="Calibri" panose="020F0502020204030204" pitchFamily="34" charset="0"/>
                <a:ea typeface="Times New Roman" panose="02020603050405020304" pitchFamily="18" charset="0"/>
                <a:cs typeface="Times New Roman" panose="02020603050405020304" pitchFamily="18" charset="0"/>
              </a:rPr>
            </a:br>
            <a:r>
              <a:rPr lang="en-IN" sz="3600" b="1" dirty="0" err="1">
                <a:solidFill>
                  <a:srgbClr val="FF0000"/>
                </a:solidFill>
                <a:effectLst/>
                <a:latin typeface="Calibri" panose="020F0502020204030204" pitchFamily="34" charset="0"/>
                <a:ea typeface="Times New Roman" panose="02020603050405020304" pitchFamily="18" charset="0"/>
                <a:cs typeface="Times New Roman" panose="02020603050405020304" pitchFamily="18" charset="0"/>
              </a:rPr>
              <a:t>S</a:t>
            </a:r>
            <a:r>
              <a:rPr lang="en-IN" sz="3600" b="1" dirty="0" err="1">
                <a:solidFill>
                  <a:srgbClr val="FF0000"/>
                </a:solidFill>
                <a:latin typeface="Calibri" panose="020F0502020204030204" pitchFamily="34" charset="0"/>
                <a:ea typeface="Times New Roman" panose="02020603050405020304" pitchFamily="18" charset="0"/>
                <a:cs typeface="Times New Roman" panose="02020603050405020304" pitchFamily="18" charset="0"/>
              </a:rPr>
              <a:t>abroom</a:t>
            </a:r>
            <a:r>
              <a:rPr lang="en-IN" sz="3600" dirty="0">
                <a:solidFill>
                  <a:srgbClr val="FF0000"/>
                </a:solidFill>
                <a:latin typeface="Calibri" panose="020F0502020204030204" pitchFamily="34" charset="0"/>
                <a:ea typeface="Times New Roman" panose="02020603050405020304" pitchFamily="18" charset="0"/>
                <a:cs typeface="Times New Roman" panose="02020603050405020304" pitchFamily="18" charset="0"/>
              </a:rPr>
              <a:t>, </a:t>
            </a:r>
            <a:r>
              <a:rPr lang="en-IN" sz="3600" b="1" dirty="0">
                <a:solidFill>
                  <a:srgbClr val="FF0000"/>
                </a:solidFill>
                <a:latin typeface="Calibri" panose="020F0502020204030204" pitchFamily="34" charset="0"/>
                <a:ea typeface="Times New Roman" panose="02020603050405020304" pitchFamily="18" charset="0"/>
                <a:cs typeface="Times New Roman" panose="02020603050405020304" pitchFamily="18" charset="0"/>
              </a:rPr>
              <a:t>Tripura</a:t>
            </a:r>
            <a:br>
              <a:rPr lang="en-IN" sz="3600" dirty="0">
                <a:effectLst/>
                <a:latin typeface="Calibri" panose="020F0502020204030204" pitchFamily="34" charset="0"/>
                <a:ea typeface="Times New Roman" panose="02020603050405020304" pitchFamily="18" charset="0"/>
                <a:cs typeface="Times New Roman" panose="02020603050405020304" pitchFamily="18" charset="0"/>
              </a:rPr>
            </a:br>
            <a:endParaRPr lang="en-IN" sz="3600" dirty="0"/>
          </a:p>
        </p:txBody>
      </p:sp>
      <p:sp>
        <p:nvSpPr>
          <p:cNvPr id="3" name="Content Placeholder 2">
            <a:extLst>
              <a:ext uri="{FF2B5EF4-FFF2-40B4-BE49-F238E27FC236}">
                <a16:creationId xmlns:a16="http://schemas.microsoft.com/office/drawing/2014/main" id="{90B16C4F-B788-467F-95CF-E0CB4AFEAF4F}"/>
              </a:ext>
            </a:extLst>
          </p:cNvPr>
          <p:cNvSpPr>
            <a:spLocks noGrp="1"/>
          </p:cNvSpPr>
          <p:nvPr>
            <p:ph idx="1"/>
          </p:nvPr>
        </p:nvSpPr>
        <p:spPr>
          <a:xfrm>
            <a:off x="457200" y="1412776"/>
            <a:ext cx="8229600" cy="4713387"/>
          </a:xfrm>
        </p:spPr>
        <p:txBody>
          <a:bodyPr>
            <a:normAutofit fontScale="70000" lnSpcReduction="20000"/>
          </a:bodyPr>
          <a:lstStyle/>
          <a:p>
            <a:pPr marL="0" lvl="0" indent="0">
              <a:lnSpc>
                <a:spcPct val="115000"/>
              </a:lnSpc>
              <a:buNone/>
            </a:pPr>
            <a:endParaRPr lang="en-IN" sz="3600" dirty="0">
              <a:effectLst/>
              <a:latin typeface="Calibri" panose="020F0502020204030204" pitchFamily="34" charset="0"/>
              <a:ea typeface="Times New Roman" panose="02020603050405020304" pitchFamily="18" charset="0"/>
              <a:cs typeface="Times New Roman" panose="02020603050405020304" pitchFamily="18" charset="0"/>
            </a:endParaRPr>
          </a:p>
          <a:p>
            <a:pPr lvl="0">
              <a:lnSpc>
                <a:spcPct val="115000"/>
              </a:lnSpc>
              <a:buFont typeface="+mj-lt"/>
              <a:buAutoNum type="arabicPeriod"/>
            </a:pPr>
            <a:r>
              <a:rPr lang="en-IN" sz="3600" dirty="0">
                <a:effectLst/>
                <a:latin typeface="Calibri" panose="020F0502020204030204" pitchFamily="34" charset="0"/>
                <a:ea typeface="Times New Roman" panose="02020603050405020304" pitchFamily="18" charset="0"/>
                <a:cs typeface="Times New Roman" panose="02020603050405020304" pitchFamily="18" charset="0"/>
              </a:rPr>
              <a:t>Investment – 635 Crores</a:t>
            </a:r>
          </a:p>
          <a:p>
            <a:pPr lvl="0">
              <a:lnSpc>
                <a:spcPct val="115000"/>
              </a:lnSpc>
              <a:buFont typeface="+mj-lt"/>
              <a:buAutoNum type="arabicPeriod"/>
            </a:pPr>
            <a:r>
              <a:rPr lang="en-IN" sz="3600" dirty="0">
                <a:effectLst/>
                <a:latin typeface="Calibri" panose="020F0502020204030204" pitchFamily="34" charset="0"/>
                <a:ea typeface="Times New Roman" panose="02020603050405020304" pitchFamily="18" charset="0"/>
                <a:cs typeface="Times New Roman" panose="02020603050405020304" pitchFamily="18" charset="0"/>
              </a:rPr>
              <a:t>Employment – 5000 </a:t>
            </a:r>
            <a:r>
              <a:rPr lang="en-IN" sz="3600" dirty="0" err="1">
                <a:effectLst/>
                <a:latin typeface="Calibri" panose="020F0502020204030204" pitchFamily="34" charset="0"/>
                <a:ea typeface="Times New Roman" panose="02020603050405020304" pitchFamily="18" charset="0"/>
                <a:cs typeface="Times New Roman" panose="02020603050405020304" pitchFamily="18" charset="0"/>
              </a:rPr>
              <a:t>Approx</a:t>
            </a:r>
            <a:endParaRPr lang="en-IN" sz="3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15000"/>
              </a:lnSpc>
              <a:buFont typeface="+mj-lt"/>
              <a:buAutoNum type="arabicPeriod"/>
            </a:pPr>
            <a:r>
              <a:rPr lang="en-IN" sz="3600" dirty="0">
                <a:effectLst/>
                <a:latin typeface="Calibri" panose="020F0502020204030204" pitchFamily="34" charset="0"/>
                <a:ea typeface="Times New Roman" panose="02020603050405020304" pitchFamily="18" charset="0"/>
                <a:cs typeface="Times New Roman" panose="02020603050405020304" pitchFamily="18" charset="0"/>
              </a:rPr>
              <a:t>Land Area – 16.35 Hectares.</a:t>
            </a:r>
          </a:p>
          <a:p>
            <a:pPr marL="342900" lvl="0" indent="-342900">
              <a:lnSpc>
                <a:spcPct val="115000"/>
              </a:lnSpc>
              <a:buFont typeface="+mj-lt"/>
              <a:buAutoNum type="arabicPeriod"/>
            </a:pPr>
            <a:r>
              <a:rPr lang="en-IN" sz="3600" dirty="0">
                <a:effectLst/>
                <a:latin typeface="Calibri" panose="020F0502020204030204" pitchFamily="34" charset="0"/>
                <a:ea typeface="Times New Roman" panose="02020603050405020304" pitchFamily="18" charset="0"/>
                <a:cs typeface="Times New Roman" panose="02020603050405020304" pitchFamily="18" charset="0"/>
              </a:rPr>
              <a:t>Developer </a:t>
            </a:r>
            <a:r>
              <a:rPr lang="en-IN" sz="3600" dirty="0">
                <a:latin typeface="Calibri" panose="020F0502020204030204" pitchFamily="34" charset="0"/>
                <a:ea typeface="Times New Roman" panose="02020603050405020304" pitchFamily="18" charset="0"/>
                <a:cs typeface="Times New Roman" panose="02020603050405020304" pitchFamily="18" charset="0"/>
              </a:rPr>
              <a:t>– TIDC LTD Tripura.</a:t>
            </a:r>
          </a:p>
          <a:p>
            <a:pPr lvl="0">
              <a:lnSpc>
                <a:spcPct val="115000"/>
              </a:lnSpc>
              <a:buFont typeface="+mj-lt"/>
              <a:buAutoNum type="arabicPeriod"/>
            </a:pPr>
            <a:r>
              <a:rPr lang="en-IN" sz="3600" dirty="0">
                <a:effectLst/>
                <a:latin typeface="Calibri" panose="020F0502020204030204" pitchFamily="34" charset="0"/>
                <a:ea typeface="Times New Roman" panose="02020603050405020304" pitchFamily="18" charset="0"/>
                <a:cs typeface="Times New Roman" panose="02020603050405020304" pitchFamily="18" charset="0"/>
              </a:rPr>
              <a:t>Present Status(as on 08.11.2021) –</a:t>
            </a:r>
          </a:p>
          <a:p>
            <a:pPr marL="0" lvl="0" indent="0">
              <a:lnSpc>
                <a:spcPct val="115000"/>
              </a:lnSpc>
              <a:buNone/>
            </a:pPr>
            <a:r>
              <a:rPr lang="en-IN" sz="3600" dirty="0">
                <a:effectLst/>
                <a:latin typeface="Calibri" panose="020F0502020204030204" pitchFamily="34" charset="0"/>
                <a:ea typeface="Times New Roman" panose="02020603050405020304" pitchFamily="18" charset="0"/>
                <a:cs typeface="Times New Roman" panose="02020603050405020304" pitchFamily="18" charset="0"/>
              </a:rPr>
              <a:t> </a:t>
            </a:r>
            <a:r>
              <a:rPr lang="en-IN" sz="3600" dirty="0">
                <a:latin typeface="Calibri" panose="020F0502020204030204" pitchFamily="34" charset="0"/>
                <a:ea typeface="Times New Roman" panose="02020603050405020304" pitchFamily="18" charset="0"/>
                <a:cs typeface="Times New Roman" panose="02020603050405020304" pitchFamily="18" charset="0"/>
              </a:rPr>
              <a:t>a) </a:t>
            </a:r>
            <a:r>
              <a:rPr lang="en-IN" sz="3600" dirty="0">
                <a:effectLst/>
                <a:latin typeface="Calibri" panose="020F0502020204030204" pitchFamily="34" charset="0"/>
                <a:ea typeface="Times New Roman" panose="02020603050405020304" pitchFamily="18" charset="0"/>
                <a:cs typeface="Times New Roman" panose="02020603050405020304" pitchFamily="18" charset="0"/>
              </a:rPr>
              <a:t>construction of </a:t>
            </a:r>
            <a:r>
              <a:rPr lang="en-IN" sz="3600" dirty="0">
                <a:latin typeface="Calibri" panose="020F0502020204030204" pitchFamily="34" charset="0"/>
                <a:ea typeface="Times New Roman" panose="02020603050405020304" pitchFamily="18" charset="0"/>
                <a:cs typeface="Times New Roman" panose="02020603050405020304" pitchFamily="18" charset="0"/>
              </a:rPr>
              <a:t>Boundary wall</a:t>
            </a:r>
            <a:r>
              <a:rPr lang="en-IN" sz="3600" dirty="0">
                <a:effectLst/>
                <a:latin typeface="Calibri" panose="020F0502020204030204" pitchFamily="34" charset="0"/>
                <a:ea typeface="Times New Roman" panose="02020603050405020304" pitchFamily="18" charset="0"/>
                <a:cs typeface="Times New Roman" panose="02020603050405020304" pitchFamily="18" charset="0"/>
              </a:rPr>
              <a:t> with </a:t>
            </a:r>
            <a:r>
              <a:rPr lang="en-IN" sz="3600" dirty="0">
                <a:latin typeface="Calibri" panose="020F0502020204030204" pitchFamily="34" charset="0"/>
                <a:ea typeface="Times New Roman" panose="02020603050405020304" pitchFamily="18" charset="0"/>
                <a:cs typeface="Times New Roman" panose="02020603050405020304" pitchFamily="18" charset="0"/>
              </a:rPr>
              <a:t>gate </a:t>
            </a:r>
            <a:r>
              <a:rPr lang="en-IN" sz="3600" dirty="0">
                <a:effectLst/>
                <a:latin typeface="Calibri" panose="020F0502020204030204" pitchFamily="34" charset="0"/>
                <a:ea typeface="Times New Roman" panose="02020603050405020304" pitchFamily="18" charset="0"/>
                <a:cs typeface="Times New Roman" panose="02020603050405020304" pitchFamily="18" charset="0"/>
              </a:rPr>
              <a:t>completed </a:t>
            </a:r>
            <a:r>
              <a:rPr lang="en-IN" sz="3600" dirty="0">
                <a:latin typeface="Calibri" panose="020F0502020204030204" pitchFamily="34" charset="0"/>
                <a:ea typeface="Times New Roman" panose="02020603050405020304" pitchFamily="18" charset="0"/>
                <a:cs typeface="Times New Roman" panose="02020603050405020304" pitchFamily="18" charset="0"/>
              </a:rPr>
              <a:t>95%. </a:t>
            </a:r>
            <a:endParaRPr lang="en-IN" sz="3600" dirty="0">
              <a:effectLst/>
              <a:latin typeface="Calibri" panose="020F0502020204030204" pitchFamily="34" charset="0"/>
              <a:ea typeface="Times New Roman" panose="02020603050405020304" pitchFamily="18" charset="0"/>
              <a:cs typeface="Times New Roman" panose="02020603050405020304" pitchFamily="18" charset="0"/>
            </a:endParaRPr>
          </a:p>
          <a:p>
            <a:pPr marL="0" lvl="0" indent="0">
              <a:lnSpc>
                <a:spcPct val="115000"/>
              </a:lnSpc>
              <a:buNone/>
            </a:pPr>
            <a:r>
              <a:rPr lang="en-IN" sz="3600" dirty="0">
                <a:latin typeface="Calibri" panose="020F0502020204030204" pitchFamily="34" charset="0"/>
                <a:ea typeface="Times New Roman" panose="02020603050405020304" pitchFamily="18" charset="0"/>
                <a:cs typeface="Times New Roman" panose="02020603050405020304" pitchFamily="18" charset="0"/>
              </a:rPr>
              <a:t> b)E-Tender by TIDC floated for selection of </a:t>
            </a:r>
          </a:p>
          <a:p>
            <a:pPr marL="0" lvl="0" indent="0">
              <a:lnSpc>
                <a:spcPct val="115000"/>
              </a:lnSpc>
              <a:buNone/>
            </a:pPr>
            <a:r>
              <a:rPr lang="en-IN" sz="3600" dirty="0">
                <a:latin typeface="Calibri" panose="020F0502020204030204" pitchFamily="34" charset="0"/>
                <a:ea typeface="Times New Roman" panose="02020603050405020304" pitchFamily="18" charset="0"/>
                <a:cs typeface="Times New Roman" panose="02020603050405020304" pitchFamily="18" charset="0"/>
              </a:rPr>
              <a:t>    Co- Developer</a:t>
            </a:r>
          </a:p>
          <a:p>
            <a:pPr marL="0" lvl="0" indent="0">
              <a:lnSpc>
                <a:spcPct val="115000"/>
              </a:lnSpc>
              <a:buNone/>
            </a:pPr>
            <a:r>
              <a:rPr lang="en-IN" sz="3600" dirty="0">
                <a:latin typeface="Calibri" panose="020F0502020204030204" pitchFamily="34" charset="0"/>
                <a:ea typeface="Times New Roman" panose="02020603050405020304" pitchFamily="18" charset="0"/>
                <a:cs typeface="Times New Roman" panose="02020603050405020304" pitchFamily="18" charset="0"/>
              </a:rPr>
              <a:t>c) </a:t>
            </a:r>
            <a:r>
              <a:rPr lang="en-IN" sz="3600" dirty="0">
                <a:effectLst/>
                <a:latin typeface="Calibri" panose="020F0502020204030204" pitchFamily="34" charset="0"/>
                <a:ea typeface="Times New Roman" panose="02020603050405020304" pitchFamily="18" charset="0"/>
                <a:cs typeface="Times New Roman" panose="02020603050405020304" pitchFamily="18" charset="0"/>
              </a:rPr>
              <a:t>TIDC has approached to ADB for financial assistance.</a:t>
            </a:r>
          </a:p>
          <a:p>
            <a:pPr marL="457200">
              <a:lnSpc>
                <a:spcPct val="115000"/>
              </a:lnSpc>
              <a:spcAft>
                <a:spcPts val="1000"/>
              </a:spcAft>
            </a:pP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3622865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8839D-6B4E-42BF-B0F3-2BBC2CFC1DAA}"/>
              </a:ext>
            </a:extLst>
          </p:cNvPr>
          <p:cNvSpPr>
            <a:spLocks noGrp="1"/>
          </p:cNvSpPr>
          <p:nvPr>
            <p:ph type="title"/>
          </p:nvPr>
        </p:nvSpPr>
        <p:spPr>
          <a:xfrm>
            <a:off x="827584" y="116632"/>
            <a:ext cx="7859216" cy="1008112"/>
          </a:xfrm>
        </p:spPr>
        <p:txBody>
          <a:bodyPr>
            <a:normAutofit fontScale="90000"/>
          </a:bodyPr>
          <a:lstStyle/>
          <a:p>
            <a:br>
              <a:rPr lang="en-IN" sz="4000" b="1" dirty="0">
                <a:solidFill>
                  <a:srgbClr val="FF0000"/>
                </a:solidFill>
                <a:effectLst/>
                <a:latin typeface="Calibri" panose="020F0502020204030204" pitchFamily="34" charset="0"/>
                <a:ea typeface="Times New Roman" panose="02020603050405020304" pitchFamily="18" charset="0"/>
                <a:cs typeface="Times New Roman" panose="02020603050405020304" pitchFamily="18" charset="0"/>
              </a:rPr>
            </a:br>
            <a:r>
              <a:rPr lang="en-IN" sz="4000" b="1" dirty="0">
                <a:latin typeface="Calibri" panose="020F0502020204030204" pitchFamily="34" charset="0"/>
                <a:ea typeface="Times New Roman" panose="02020603050405020304" pitchFamily="18" charset="0"/>
                <a:cs typeface="Times New Roman" panose="02020603050405020304" pitchFamily="18" charset="0"/>
              </a:rPr>
              <a:t>8</a:t>
            </a:r>
            <a:r>
              <a:rPr lang="en-IN" sz="4000" b="1" baseline="30000" dirty="0">
                <a:latin typeface="Calibri" panose="020F0502020204030204" pitchFamily="34" charset="0"/>
                <a:ea typeface="Times New Roman" panose="02020603050405020304" pitchFamily="18" charset="0"/>
                <a:cs typeface="Times New Roman" panose="02020603050405020304" pitchFamily="18" charset="0"/>
              </a:rPr>
              <a:t>th</a:t>
            </a:r>
            <a:r>
              <a:rPr lang="en-IN" sz="4000" b="1" dirty="0">
                <a:latin typeface="Calibri" panose="020F0502020204030204" pitchFamily="34" charset="0"/>
                <a:ea typeface="Times New Roman" panose="02020603050405020304" pitchFamily="18" charset="0"/>
                <a:cs typeface="Times New Roman" panose="02020603050405020304" pitchFamily="18" charset="0"/>
              </a:rPr>
              <a:t> June, 2021</a:t>
            </a:r>
            <a:r>
              <a:rPr lang="en-IN" sz="4000" b="1" dirty="0">
                <a:solidFill>
                  <a:srgbClr val="FF0000"/>
                </a:solidFill>
                <a:latin typeface="Calibri" panose="020F0502020204030204" pitchFamily="34" charset="0"/>
                <a:ea typeface="Times New Roman" panose="02020603050405020304" pitchFamily="18" charset="0"/>
                <a:cs typeface="Times New Roman" panose="02020603050405020304" pitchFamily="18" charset="0"/>
              </a:rPr>
              <a:t>  - </a:t>
            </a:r>
            <a:r>
              <a:rPr lang="en-IN" sz="4000" b="1" dirty="0">
                <a:solidFill>
                  <a:srgbClr val="FF0000"/>
                </a:solidFill>
                <a:effectLst/>
                <a:latin typeface="Calibri" panose="020F0502020204030204" pitchFamily="34" charset="0"/>
                <a:ea typeface="Times New Roman" panose="02020603050405020304" pitchFamily="18" charset="0"/>
                <a:cs typeface="Times New Roman" panose="02020603050405020304" pitchFamily="18" charset="0"/>
              </a:rPr>
              <a:t>IT/ITES  SEZ </a:t>
            </a:r>
            <a:r>
              <a:rPr lang="en-IN" sz="4000" b="1" dirty="0">
                <a:solidFill>
                  <a:srgbClr val="FF0000"/>
                </a:solidFill>
                <a:latin typeface="Calibri" panose="020F0502020204030204" pitchFamily="34" charset="0"/>
                <a:ea typeface="Times New Roman" panose="02020603050405020304" pitchFamily="18" charset="0"/>
                <a:cs typeface="Times New Roman" panose="02020603050405020304" pitchFamily="18" charset="0"/>
              </a:rPr>
              <a:t>at </a:t>
            </a:r>
            <a:r>
              <a:rPr lang="en-IN" sz="4000" b="1" dirty="0" err="1">
                <a:solidFill>
                  <a:srgbClr val="FF0000"/>
                </a:solidFill>
                <a:latin typeface="Calibri" panose="020F0502020204030204" pitchFamily="34" charset="0"/>
                <a:ea typeface="Times New Roman" panose="02020603050405020304" pitchFamily="18" charset="0"/>
                <a:cs typeface="Times New Roman" panose="02020603050405020304" pitchFamily="18" charset="0"/>
              </a:rPr>
              <a:t>Namli</a:t>
            </a:r>
            <a:r>
              <a:rPr lang="en-IN" sz="4000" b="1" dirty="0">
                <a:solidFill>
                  <a:srgbClr val="FF0000"/>
                </a:solidFill>
                <a:latin typeface="Calibri" panose="020F0502020204030204" pitchFamily="34" charset="0"/>
                <a:ea typeface="Times New Roman" panose="02020603050405020304" pitchFamily="18" charset="0"/>
                <a:cs typeface="Times New Roman" panose="02020603050405020304" pitchFamily="18" charset="0"/>
              </a:rPr>
              <a:t>, Sikkim </a:t>
            </a:r>
            <a:br>
              <a:rPr lang="en-IN"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55104E42-1709-43EC-B4E4-74AA7265E57B}"/>
              </a:ext>
            </a:extLst>
          </p:cNvPr>
          <p:cNvSpPr>
            <a:spLocks noGrp="1"/>
          </p:cNvSpPr>
          <p:nvPr>
            <p:ph idx="1"/>
          </p:nvPr>
        </p:nvSpPr>
        <p:spPr>
          <a:xfrm>
            <a:off x="457200" y="1268760"/>
            <a:ext cx="8229600" cy="5314602"/>
          </a:xfrm>
        </p:spPr>
        <p:txBody>
          <a:bodyPr/>
          <a:lstStyle/>
          <a:p>
            <a:pPr>
              <a:lnSpc>
                <a:spcPct val="115000"/>
              </a:lnSpc>
              <a:spcAft>
                <a:spcPts val="1000"/>
              </a:spcAft>
            </a:pPr>
            <a:r>
              <a:rPr lang="en-IN" sz="1800" b="1" dirty="0">
                <a:latin typeface="Calibri" panose="020F0502020204030204" pitchFamily="34" charset="0"/>
                <a:ea typeface="Times New Roman" panose="02020603050405020304" pitchFamily="18" charset="0"/>
                <a:cs typeface="Times New Roman" panose="02020603050405020304" pitchFamily="18" charset="0"/>
              </a:rPr>
              <a:t>Name of the Developer:- Department of Information Technology, Government of Sikkim</a:t>
            </a:r>
            <a:endParaRPr lang="en-IN" sz="180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n-IN" sz="1800" b="1" dirty="0">
                <a:latin typeface="Calibri" panose="020F0502020204030204" pitchFamily="34" charset="0"/>
                <a:ea typeface="Times New Roman" panose="02020603050405020304" pitchFamily="18" charset="0"/>
                <a:cs typeface="Times New Roman" panose="02020603050405020304" pitchFamily="18" charset="0"/>
              </a:rPr>
              <a:t>At </a:t>
            </a:r>
            <a:r>
              <a:rPr lang="en-IN" sz="1800" b="1" dirty="0" err="1">
                <a:latin typeface="Calibri" panose="020F0502020204030204" pitchFamily="34" charset="0"/>
                <a:ea typeface="Times New Roman" panose="02020603050405020304" pitchFamily="18" charset="0"/>
                <a:cs typeface="Times New Roman" panose="02020603050405020304" pitchFamily="18" charset="0"/>
              </a:rPr>
              <a:t>Namli</a:t>
            </a:r>
            <a:r>
              <a:rPr lang="en-IN" sz="1800" b="1" dirty="0">
                <a:latin typeface="Calibri" panose="020F0502020204030204" pitchFamily="34" charset="0"/>
                <a:ea typeface="Times New Roman" panose="02020603050405020304" pitchFamily="18" charset="0"/>
                <a:cs typeface="Times New Roman" panose="02020603050405020304" pitchFamily="18" charset="0"/>
              </a:rPr>
              <a:t>, </a:t>
            </a:r>
            <a:r>
              <a:rPr lang="en-IN" sz="1800" b="1" dirty="0">
                <a:effectLst/>
                <a:latin typeface="Calibri" panose="020F0502020204030204" pitchFamily="34" charset="0"/>
                <a:ea typeface="Times New Roman" panose="02020603050405020304" pitchFamily="18" charset="0"/>
                <a:cs typeface="Times New Roman" panose="02020603050405020304" pitchFamily="18" charset="0"/>
              </a:rPr>
              <a:t>8</a:t>
            </a:r>
            <a:r>
              <a:rPr lang="en-IN" sz="1800" b="1" baseline="30000" dirty="0">
                <a:effectLst/>
                <a:latin typeface="Calibri" panose="020F0502020204030204" pitchFamily="34" charset="0"/>
                <a:ea typeface="Times New Roman" panose="02020603050405020304" pitchFamily="18" charset="0"/>
                <a:cs typeface="Times New Roman" panose="02020603050405020304" pitchFamily="18" charset="0"/>
              </a:rPr>
              <a:t>th</a:t>
            </a:r>
            <a:r>
              <a:rPr lang="en-IN" sz="1800" b="1" dirty="0">
                <a:effectLst/>
                <a:latin typeface="Calibri" panose="020F0502020204030204" pitchFamily="34" charset="0"/>
                <a:ea typeface="Times New Roman" panose="02020603050405020304" pitchFamily="18" charset="0"/>
                <a:cs typeface="Times New Roman" panose="02020603050405020304" pitchFamily="18" charset="0"/>
              </a:rPr>
              <a:t> Mile, </a:t>
            </a:r>
            <a:r>
              <a:rPr lang="en-IN" sz="1800" b="1" dirty="0" err="1">
                <a:effectLst/>
                <a:latin typeface="Calibri" panose="020F0502020204030204" pitchFamily="34" charset="0"/>
                <a:ea typeface="Times New Roman" panose="02020603050405020304" pitchFamily="18" charset="0"/>
                <a:cs typeface="Times New Roman" panose="02020603050405020304" pitchFamily="18" charset="0"/>
              </a:rPr>
              <a:t>Ranipol</a:t>
            </a:r>
            <a:r>
              <a:rPr lang="en-IN" sz="1800" b="1" dirty="0">
                <a:effectLst/>
                <a:latin typeface="Calibri" panose="020F0502020204030204" pitchFamily="34" charset="0"/>
                <a:ea typeface="Times New Roman" panose="02020603050405020304" pitchFamily="18" charset="0"/>
                <a:cs typeface="Times New Roman" panose="02020603050405020304" pitchFamily="18" charset="0"/>
              </a:rPr>
              <a:t>, East Sikkim</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n-IN" sz="1800" b="1" dirty="0">
                <a:effectLst/>
                <a:latin typeface="Calibri" panose="020F0502020204030204" pitchFamily="34" charset="0"/>
                <a:ea typeface="Times New Roman" panose="02020603050405020304" pitchFamily="18" charset="0"/>
                <a:cs typeface="Times New Roman" panose="02020603050405020304" pitchFamily="18" charset="0"/>
              </a:rPr>
              <a:t>Land Area :- 6.32 Hectares</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n-IN" sz="1800" b="1" dirty="0">
                <a:effectLst/>
                <a:latin typeface="Calibri" panose="020F0502020204030204" pitchFamily="34" charset="0"/>
                <a:ea typeface="Times New Roman" panose="02020603050405020304" pitchFamily="18" charset="0"/>
                <a:cs typeface="Times New Roman" panose="02020603050405020304" pitchFamily="18" charset="0"/>
              </a:rPr>
              <a:t>Proposed Investment in Infrastructure by the Developer:- Rs.50 Crore</a:t>
            </a:r>
          </a:p>
          <a:p>
            <a:r>
              <a:rPr lang="en-IN" sz="1800" b="1" dirty="0">
                <a:effectLst/>
                <a:latin typeface="Calibri" panose="020F0502020204030204" pitchFamily="34" charset="0"/>
                <a:ea typeface="Times New Roman" panose="02020603050405020304" pitchFamily="18" charset="0"/>
                <a:cs typeface="Times New Roman" panose="02020603050405020304" pitchFamily="18" charset="0"/>
              </a:rPr>
              <a:t>Proposed Exports and Employment from the Zone as submitted by the Developer:-</a:t>
            </a:r>
          </a:p>
          <a:p>
            <a:pPr marL="0" indent="0">
              <a:buNone/>
            </a:pPr>
            <a:endParaRPr lang="en-IN" dirty="0"/>
          </a:p>
        </p:txBody>
      </p:sp>
      <p:graphicFrame>
        <p:nvGraphicFramePr>
          <p:cNvPr id="6" name="Table 5">
            <a:extLst>
              <a:ext uri="{FF2B5EF4-FFF2-40B4-BE49-F238E27FC236}">
                <a16:creationId xmlns:a16="http://schemas.microsoft.com/office/drawing/2014/main" id="{5C3CDC22-BD5C-4166-87E5-32A89ED175CF}"/>
              </a:ext>
            </a:extLst>
          </p:cNvPr>
          <p:cNvGraphicFramePr>
            <a:graphicFrameLocks noGrp="1"/>
          </p:cNvGraphicFramePr>
          <p:nvPr>
            <p:extLst>
              <p:ext uri="{D42A27DB-BD31-4B8C-83A1-F6EECF244321}">
                <p14:modId xmlns:p14="http://schemas.microsoft.com/office/powerpoint/2010/main" val="1793394199"/>
              </p:ext>
            </p:extLst>
          </p:nvPr>
        </p:nvGraphicFramePr>
        <p:xfrm>
          <a:off x="827584" y="4365104"/>
          <a:ext cx="6984774" cy="2068068"/>
        </p:xfrm>
        <a:graphic>
          <a:graphicData uri="http://schemas.openxmlformats.org/drawingml/2006/table">
            <a:tbl>
              <a:tblPr firstRow="1" firstCol="1" bandRow="1">
                <a:tableStyleId>{5C22544A-7EE6-4342-B048-85BDC9FD1C3A}</a:tableStyleId>
              </a:tblPr>
              <a:tblGrid>
                <a:gridCol w="1440160">
                  <a:extLst>
                    <a:ext uri="{9D8B030D-6E8A-4147-A177-3AD203B41FA5}">
                      <a16:colId xmlns:a16="http://schemas.microsoft.com/office/drawing/2014/main" val="1413070029"/>
                    </a:ext>
                  </a:extLst>
                </a:gridCol>
                <a:gridCol w="887594">
                  <a:extLst>
                    <a:ext uri="{9D8B030D-6E8A-4147-A177-3AD203B41FA5}">
                      <a16:colId xmlns:a16="http://schemas.microsoft.com/office/drawing/2014/main" val="3855702684"/>
                    </a:ext>
                  </a:extLst>
                </a:gridCol>
                <a:gridCol w="1163877">
                  <a:extLst>
                    <a:ext uri="{9D8B030D-6E8A-4147-A177-3AD203B41FA5}">
                      <a16:colId xmlns:a16="http://schemas.microsoft.com/office/drawing/2014/main" val="2188242015"/>
                    </a:ext>
                  </a:extLst>
                </a:gridCol>
                <a:gridCol w="1163877">
                  <a:extLst>
                    <a:ext uri="{9D8B030D-6E8A-4147-A177-3AD203B41FA5}">
                      <a16:colId xmlns:a16="http://schemas.microsoft.com/office/drawing/2014/main" val="2077989745"/>
                    </a:ext>
                  </a:extLst>
                </a:gridCol>
                <a:gridCol w="1164633">
                  <a:extLst>
                    <a:ext uri="{9D8B030D-6E8A-4147-A177-3AD203B41FA5}">
                      <a16:colId xmlns:a16="http://schemas.microsoft.com/office/drawing/2014/main" val="4194282500"/>
                    </a:ext>
                  </a:extLst>
                </a:gridCol>
                <a:gridCol w="1164633">
                  <a:extLst>
                    <a:ext uri="{9D8B030D-6E8A-4147-A177-3AD203B41FA5}">
                      <a16:colId xmlns:a16="http://schemas.microsoft.com/office/drawing/2014/main" val="3617849551"/>
                    </a:ext>
                  </a:extLst>
                </a:gridCol>
              </a:tblGrid>
              <a:tr h="258743">
                <a:tc>
                  <a:txBody>
                    <a:bodyPr/>
                    <a:lstStyle/>
                    <a:p>
                      <a:pPr>
                        <a:lnSpc>
                          <a:spcPct val="115000"/>
                        </a:lnSpc>
                        <a:spcAft>
                          <a:spcPts val="1000"/>
                        </a:spcAft>
                      </a:pPr>
                      <a:r>
                        <a:rPr lang="en-IN" sz="1100">
                          <a:effectLst/>
                        </a:rPr>
                        <a:t> </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1000"/>
                        </a:spcAft>
                      </a:pPr>
                      <a:r>
                        <a:rPr lang="en-IN" sz="1800" dirty="0">
                          <a:effectLst/>
                        </a:rPr>
                        <a:t>Year1</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1000"/>
                        </a:spcAft>
                      </a:pPr>
                      <a:r>
                        <a:rPr lang="en-IN" sz="1800">
                          <a:effectLst/>
                        </a:rPr>
                        <a:t>Year2</a:t>
                      </a:r>
                      <a:endParaRPr lang="en-IN" sz="18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1000"/>
                        </a:spcAft>
                      </a:pPr>
                      <a:r>
                        <a:rPr lang="en-IN" sz="1800">
                          <a:effectLst/>
                        </a:rPr>
                        <a:t>Year3</a:t>
                      </a:r>
                      <a:endParaRPr lang="en-IN" sz="18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1000"/>
                        </a:spcAft>
                      </a:pPr>
                      <a:r>
                        <a:rPr lang="en-IN" sz="1800">
                          <a:effectLst/>
                        </a:rPr>
                        <a:t>Year4</a:t>
                      </a:r>
                      <a:endParaRPr lang="en-IN" sz="18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1000"/>
                        </a:spcAft>
                      </a:pPr>
                      <a:r>
                        <a:rPr lang="en-IN" sz="1800">
                          <a:effectLst/>
                        </a:rPr>
                        <a:t>Year5</a:t>
                      </a:r>
                      <a:endParaRPr lang="en-IN" sz="18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51042528"/>
                  </a:ext>
                </a:extLst>
              </a:tr>
              <a:tr h="258743">
                <a:tc>
                  <a:txBody>
                    <a:bodyPr/>
                    <a:lstStyle/>
                    <a:p>
                      <a:pPr>
                        <a:lnSpc>
                          <a:spcPct val="115000"/>
                        </a:lnSpc>
                        <a:spcAft>
                          <a:spcPts val="1000"/>
                        </a:spcAft>
                      </a:pPr>
                      <a:r>
                        <a:rPr lang="en-IN" sz="1600" dirty="0">
                          <a:effectLst/>
                        </a:rPr>
                        <a:t>Exports </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1000"/>
                        </a:spcAft>
                      </a:pPr>
                      <a:r>
                        <a:rPr lang="en-IN" sz="1800" dirty="0">
                          <a:effectLst/>
                        </a:rPr>
                        <a:t>20 Crores</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1000"/>
                        </a:spcAft>
                      </a:pPr>
                      <a:r>
                        <a:rPr lang="en-IN" sz="1800">
                          <a:effectLst/>
                        </a:rPr>
                        <a:t>40 Crores</a:t>
                      </a:r>
                      <a:endParaRPr lang="en-IN" sz="18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1000"/>
                        </a:spcAft>
                      </a:pPr>
                      <a:r>
                        <a:rPr lang="en-IN" sz="1800">
                          <a:effectLst/>
                        </a:rPr>
                        <a:t>60 Crores</a:t>
                      </a:r>
                      <a:endParaRPr lang="en-IN" sz="18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1000"/>
                        </a:spcAft>
                      </a:pPr>
                      <a:r>
                        <a:rPr lang="en-IN" sz="1800">
                          <a:effectLst/>
                        </a:rPr>
                        <a:t>80 Crores</a:t>
                      </a:r>
                      <a:endParaRPr lang="en-IN" sz="18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1000"/>
                        </a:spcAft>
                      </a:pPr>
                      <a:r>
                        <a:rPr lang="en-IN" sz="1800">
                          <a:effectLst/>
                        </a:rPr>
                        <a:t>100 Crores</a:t>
                      </a:r>
                      <a:endParaRPr lang="en-IN" sz="18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741659146"/>
                  </a:ext>
                </a:extLst>
              </a:tr>
              <a:tr h="533601">
                <a:tc>
                  <a:txBody>
                    <a:bodyPr/>
                    <a:lstStyle/>
                    <a:p>
                      <a:pPr>
                        <a:lnSpc>
                          <a:spcPct val="115000"/>
                        </a:lnSpc>
                        <a:spcAft>
                          <a:spcPts val="1000"/>
                        </a:spcAft>
                      </a:pPr>
                      <a:r>
                        <a:rPr lang="en-IN" sz="1600" dirty="0">
                          <a:effectLst/>
                        </a:rPr>
                        <a:t>Direct Employment</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1000"/>
                        </a:spcAft>
                      </a:pPr>
                      <a:r>
                        <a:rPr lang="en-IN" sz="1800" dirty="0">
                          <a:effectLst/>
                        </a:rPr>
                        <a:t>200</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1000"/>
                        </a:spcAft>
                      </a:pPr>
                      <a:r>
                        <a:rPr lang="en-IN" sz="1800" dirty="0">
                          <a:effectLst/>
                        </a:rPr>
                        <a:t>400</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1000"/>
                        </a:spcAft>
                      </a:pPr>
                      <a:r>
                        <a:rPr lang="en-IN" sz="1800">
                          <a:effectLst/>
                        </a:rPr>
                        <a:t>600</a:t>
                      </a:r>
                      <a:endParaRPr lang="en-IN" sz="18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1000"/>
                        </a:spcAft>
                      </a:pPr>
                      <a:r>
                        <a:rPr lang="en-IN" sz="1800">
                          <a:effectLst/>
                        </a:rPr>
                        <a:t>800</a:t>
                      </a:r>
                      <a:endParaRPr lang="en-IN" sz="18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1000"/>
                        </a:spcAft>
                      </a:pPr>
                      <a:r>
                        <a:rPr lang="en-IN" sz="1800">
                          <a:effectLst/>
                        </a:rPr>
                        <a:t>1000</a:t>
                      </a:r>
                      <a:endParaRPr lang="en-IN" sz="18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57667627"/>
                  </a:ext>
                </a:extLst>
              </a:tr>
              <a:tr h="533601">
                <a:tc>
                  <a:txBody>
                    <a:bodyPr/>
                    <a:lstStyle/>
                    <a:p>
                      <a:pPr>
                        <a:lnSpc>
                          <a:spcPct val="115000"/>
                        </a:lnSpc>
                        <a:spcAft>
                          <a:spcPts val="1000"/>
                        </a:spcAft>
                      </a:pPr>
                      <a:r>
                        <a:rPr lang="en-IN" sz="1600" dirty="0">
                          <a:effectLst/>
                        </a:rPr>
                        <a:t>Indirect Employment</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1000"/>
                        </a:spcAft>
                      </a:pPr>
                      <a:r>
                        <a:rPr lang="en-IN" sz="1800">
                          <a:effectLst/>
                        </a:rPr>
                        <a:t>800</a:t>
                      </a:r>
                      <a:endParaRPr lang="en-IN" sz="18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1000"/>
                        </a:spcAft>
                      </a:pPr>
                      <a:r>
                        <a:rPr lang="en-IN" sz="1800" dirty="0">
                          <a:effectLst/>
                        </a:rPr>
                        <a:t>1200</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1000"/>
                        </a:spcAft>
                      </a:pPr>
                      <a:r>
                        <a:rPr lang="en-IN" sz="1800" dirty="0">
                          <a:effectLst/>
                        </a:rPr>
                        <a:t>1800</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1000"/>
                        </a:spcAft>
                      </a:pPr>
                      <a:r>
                        <a:rPr lang="en-IN" sz="1800" dirty="0">
                          <a:effectLst/>
                        </a:rPr>
                        <a:t>2600</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15000"/>
                        </a:lnSpc>
                        <a:spcAft>
                          <a:spcPts val="1000"/>
                        </a:spcAft>
                      </a:pPr>
                      <a:r>
                        <a:rPr lang="en-IN" sz="1800" dirty="0">
                          <a:effectLst/>
                        </a:rPr>
                        <a:t>4000</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99633102"/>
                  </a:ext>
                </a:extLst>
              </a:tr>
            </a:tbl>
          </a:graphicData>
        </a:graphic>
      </p:graphicFrame>
    </p:spTree>
    <p:extLst>
      <p:ext uri="{BB962C8B-B14F-4D97-AF65-F5344CB8AC3E}">
        <p14:creationId xmlns:p14="http://schemas.microsoft.com/office/powerpoint/2010/main" val="1541169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535C1387-5122-4E56-90D3-8B2E06AD7116}"/>
              </a:ext>
            </a:extLst>
          </p:cNvPr>
          <p:cNvGraphicFramePr/>
          <p:nvPr/>
        </p:nvGraphicFramePr>
        <p:xfrm>
          <a:off x="285721" y="214290"/>
          <a:ext cx="8501122" cy="642942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8960787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p:cNvGraphicFramePr>
            <a:graphicFrameLocks noGrp="1"/>
          </p:cNvGraphicFramePr>
          <p:nvPr/>
        </p:nvGraphicFramePr>
        <p:xfrm>
          <a:off x="428596" y="214290"/>
          <a:ext cx="8286804" cy="6610572"/>
        </p:xfrm>
        <a:graphic>
          <a:graphicData uri="http://schemas.openxmlformats.org/drawingml/2006/table">
            <a:tbl>
              <a:tblPr firstRow="1" bandRow="1">
                <a:tableStyleId>{5C22544A-7EE6-4342-B048-85BDC9FD1C3A}</a:tableStyleId>
              </a:tblPr>
              <a:tblGrid>
                <a:gridCol w="1714510">
                  <a:extLst>
                    <a:ext uri="{9D8B030D-6E8A-4147-A177-3AD203B41FA5}">
                      <a16:colId xmlns:a16="http://schemas.microsoft.com/office/drawing/2014/main" val="20000"/>
                    </a:ext>
                  </a:extLst>
                </a:gridCol>
                <a:gridCol w="1047758">
                  <a:extLst>
                    <a:ext uri="{9D8B030D-6E8A-4147-A177-3AD203B41FA5}">
                      <a16:colId xmlns:a16="http://schemas.microsoft.com/office/drawing/2014/main" val="20001"/>
                    </a:ext>
                  </a:extLst>
                </a:gridCol>
                <a:gridCol w="1381134">
                  <a:extLst>
                    <a:ext uri="{9D8B030D-6E8A-4147-A177-3AD203B41FA5}">
                      <a16:colId xmlns:a16="http://schemas.microsoft.com/office/drawing/2014/main" val="20002"/>
                    </a:ext>
                  </a:extLst>
                </a:gridCol>
                <a:gridCol w="1381134">
                  <a:extLst>
                    <a:ext uri="{9D8B030D-6E8A-4147-A177-3AD203B41FA5}">
                      <a16:colId xmlns:a16="http://schemas.microsoft.com/office/drawing/2014/main" val="20003"/>
                    </a:ext>
                  </a:extLst>
                </a:gridCol>
                <a:gridCol w="1381134">
                  <a:extLst>
                    <a:ext uri="{9D8B030D-6E8A-4147-A177-3AD203B41FA5}">
                      <a16:colId xmlns:a16="http://schemas.microsoft.com/office/drawing/2014/main" val="20004"/>
                    </a:ext>
                  </a:extLst>
                </a:gridCol>
                <a:gridCol w="1381134">
                  <a:extLst>
                    <a:ext uri="{9D8B030D-6E8A-4147-A177-3AD203B41FA5}">
                      <a16:colId xmlns:a16="http://schemas.microsoft.com/office/drawing/2014/main" val="20005"/>
                    </a:ext>
                  </a:extLst>
                </a:gridCol>
              </a:tblGrid>
              <a:tr h="503216">
                <a:tc gridSpan="6">
                  <a:txBody>
                    <a:bodyPr/>
                    <a:lstStyle/>
                    <a:p>
                      <a:r>
                        <a:rPr lang="en-IN" dirty="0"/>
                        <a:t>                                                      FALTA SPECIAL ECONOMIC ZONE</a:t>
                      </a:r>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10000"/>
                  </a:ext>
                </a:extLst>
              </a:tr>
              <a:tr h="503216">
                <a:tc gridSpan="6">
                  <a:txBody>
                    <a:bodyPr/>
                    <a:lstStyle/>
                    <a:p>
                      <a:r>
                        <a:rPr lang="en-IN" sz="1600" dirty="0" err="1"/>
                        <a:t>Sez</a:t>
                      </a:r>
                      <a:r>
                        <a:rPr lang="en-IN" sz="1600" dirty="0"/>
                        <a:t> Wise Merchandise Exports from-April to July ( FY-2023-24 </a:t>
                      </a:r>
                      <a:r>
                        <a:rPr lang="en-IN" sz="1600" dirty="0" err="1"/>
                        <a:t>vs</a:t>
                      </a:r>
                      <a:r>
                        <a:rPr lang="en-IN" sz="1600" dirty="0"/>
                        <a:t> FY-2022-23 )</a:t>
                      </a:r>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10001"/>
                  </a:ext>
                </a:extLst>
              </a:tr>
              <a:tr h="850956">
                <a:tc rowSpan="2">
                  <a:txBody>
                    <a:bodyPr/>
                    <a:lstStyle/>
                    <a:p>
                      <a:r>
                        <a:rPr lang="en-IN" sz="1600" dirty="0" err="1"/>
                        <a:t>Sez</a:t>
                      </a:r>
                      <a:r>
                        <a:rPr lang="en-IN" sz="1600" dirty="0"/>
                        <a:t> Name</a:t>
                      </a:r>
                    </a:p>
                  </a:txBody>
                  <a:tcPr/>
                </a:tc>
                <a:tc>
                  <a:txBody>
                    <a:bodyPr/>
                    <a:lstStyle/>
                    <a:p>
                      <a:r>
                        <a:rPr lang="en-IN" sz="1600" dirty="0"/>
                        <a:t>FY-2023-24</a:t>
                      </a:r>
                    </a:p>
                  </a:txBody>
                  <a:tcPr/>
                </a:tc>
                <a:tc>
                  <a:txBody>
                    <a:bodyPr/>
                    <a:lstStyle/>
                    <a:p>
                      <a:r>
                        <a:rPr lang="en-IN" sz="1600" dirty="0"/>
                        <a:t>FY-2022-23</a:t>
                      </a:r>
                    </a:p>
                  </a:txBody>
                  <a:tcPr/>
                </a:tc>
                <a:tc>
                  <a:txBody>
                    <a:bodyPr/>
                    <a:lstStyle/>
                    <a:p>
                      <a:r>
                        <a:rPr lang="en-IN" sz="1600" dirty="0"/>
                        <a:t>Change In </a:t>
                      </a:r>
                      <a:r>
                        <a:rPr lang="en-IN" sz="1600" dirty="0" err="1"/>
                        <a:t>Inr</a:t>
                      </a:r>
                      <a:endParaRPr lang="en-IN" sz="1600" dirty="0"/>
                    </a:p>
                  </a:txBody>
                  <a:tcPr/>
                </a:tc>
                <a:tc>
                  <a:txBody>
                    <a:bodyPr/>
                    <a:lstStyle/>
                    <a:p>
                      <a:r>
                        <a:rPr lang="en-IN" sz="1600" dirty="0" err="1"/>
                        <a:t>Inr</a:t>
                      </a:r>
                      <a:r>
                        <a:rPr lang="en-IN" sz="1600" dirty="0"/>
                        <a:t> terms</a:t>
                      </a:r>
                    </a:p>
                  </a:txBody>
                  <a:tcPr/>
                </a:tc>
                <a:tc>
                  <a:txBody>
                    <a:bodyPr/>
                    <a:lstStyle/>
                    <a:p>
                      <a:r>
                        <a:rPr lang="en-IN" sz="1600" dirty="0"/>
                        <a:t>Growth in </a:t>
                      </a:r>
                      <a:r>
                        <a:rPr lang="en-IN" sz="1600" dirty="0" err="1"/>
                        <a:t>Inr</a:t>
                      </a:r>
                      <a:r>
                        <a:rPr lang="en-IN" sz="1600" dirty="0"/>
                        <a:t> (+) </a:t>
                      </a:r>
                      <a:r>
                        <a:rPr lang="en-IN" sz="1600" dirty="0" err="1"/>
                        <a:t>ve</a:t>
                      </a:r>
                      <a:r>
                        <a:rPr lang="en-IN" sz="1600" dirty="0"/>
                        <a:t> or  (-) </a:t>
                      </a:r>
                      <a:r>
                        <a:rPr lang="en-IN" sz="1600" dirty="0" err="1"/>
                        <a:t>Ve</a:t>
                      </a:r>
                      <a:endParaRPr lang="en-IN" sz="1600" dirty="0"/>
                    </a:p>
                  </a:txBody>
                  <a:tcPr/>
                </a:tc>
                <a:extLst>
                  <a:ext uri="{0D108BD9-81ED-4DB2-BD59-A6C34878D82A}">
                    <a16:rowId xmlns:a16="http://schemas.microsoft.com/office/drawing/2014/main" val="10002"/>
                  </a:ext>
                </a:extLst>
              </a:tr>
              <a:tr h="500066">
                <a:tc vMerge="1">
                  <a:txBody>
                    <a:bodyPr/>
                    <a:lstStyle/>
                    <a:p>
                      <a:endParaRPr lang="en-IN" dirty="0"/>
                    </a:p>
                  </a:txBody>
                  <a:tcPr/>
                </a:tc>
                <a:tc>
                  <a:txBody>
                    <a:bodyPr/>
                    <a:lstStyle/>
                    <a:p>
                      <a:r>
                        <a:rPr lang="en-IN" sz="1600" dirty="0"/>
                        <a:t>INR (Rs. In Cr.) </a:t>
                      </a:r>
                    </a:p>
                  </a:txBody>
                  <a:tcPr/>
                </a:tc>
                <a:tc>
                  <a:txBody>
                    <a:bodyPr/>
                    <a:lstStyle/>
                    <a:p>
                      <a:r>
                        <a:rPr lang="en-IN" sz="1600" dirty="0"/>
                        <a:t>INR (Rs. In Cr.) </a:t>
                      </a:r>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extLst>
                  <a:ext uri="{0D108BD9-81ED-4DB2-BD59-A6C34878D82A}">
                    <a16:rowId xmlns:a16="http://schemas.microsoft.com/office/drawing/2014/main" val="10003"/>
                  </a:ext>
                </a:extLst>
              </a:tr>
              <a:tr h="492450">
                <a:tc>
                  <a:txBody>
                    <a:bodyPr/>
                    <a:lstStyle/>
                    <a:p>
                      <a:pPr algn="l" fontAlgn="b"/>
                      <a:r>
                        <a:rPr lang="en-IN" sz="1600" b="0" i="0" u="none" strike="noStrike" dirty="0">
                          <a:solidFill>
                            <a:srgbClr val="000000"/>
                          </a:solidFill>
                          <a:latin typeface="Calibri"/>
                        </a:rPr>
                        <a:t>VEDANTA ALUMINIUM LTD.</a:t>
                      </a:r>
                    </a:p>
                  </a:txBody>
                  <a:tcPr marL="9525" marR="9525" marT="9525" marB="0" anchor="b"/>
                </a:tc>
                <a:tc>
                  <a:txBody>
                    <a:bodyPr/>
                    <a:lstStyle/>
                    <a:p>
                      <a:pPr algn="ctr" fontAlgn="b"/>
                      <a:r>
                        <a:rPr lang="en-IN" sz="1600" b="0" i="0" u="none" strike="noStrike" dirty="0">
                          <a:solidFill>
                            <a:srgbClr val="000000"/>
                          </a:solidFill>
                          <a:latin typeface="Calibri"/>
                        </a:rPr>
                        <a:t>₹ 7,410</a:t>
                      </a:r>
                    </a:p>
                  </a:txBody>
                  <a:tcPr marL="9525" marR="9525" marT="9525" marB="0" anchor="b"/>
                </a:tc>
                <a:tc>
                  <a:txBody>
                    <a:bodyPr/>
                    <a:lstStyle/>
                    <a:p>
                      <a:pPr algn="ctr" fontAlgn="b"/>
                      <a:r>
                        <a:rPr lang="en-IN" sz="1600" b="0" i="0" u="none" strike="noStrike" dirty="0">
                          <a:solidFill>
                            <a:srgbClr val="000000"/>
                          </a:solidFill>
                          <a:latin typeface="Calibri"/>
                        </a:rPr>
                        <a:t>₹ 8,591</a:t>
                      </a:r>
                    </a:p>
                  </a:txBody>
                  <a:tcPr marL="9525" marR="9525" marT="9525" marB="0" anchor="b"/>
                </a:tc>
                <a:tc>
                  <a:txBody>
                    <a:bodyPr/>
                    <a:lstStyle/>
                    <a:p>
                      <a:pPr algn="ctr" fontAlgn="b"/>
                      <a:r>
                        <a:rPr lang="en-IN" sz="1600" b="0" i="0" u="none" strike="noStrike" dirty="0">
                          <a:solidFill>
                            <a:srgbClr val="FF0000"/>
                          </a:solidFill>
                          <a:latin typeface="Calibri"/>
                        </a:rPr>
                        <a:t>-₹ 1,181</a:t>
                      </a:r>
                    </a:p>
                  </a:txBody>
                  <a:tcPr marL="9525" marR="9525" marT="9525" marB="0" anchor="b"/>
                </a:tc>
                <a:tc>
                  <a:txBody>
                    <a:bodyPr/>
                    <a:lstStyle/>
                    <a:p>
                      <a:pPr algn="ctr" fontAlgn="b"/>
                      <a:r>
                        <a:rPr lang="en-IN" sz="1600" b="0" i="0" u="none" strike="noStrike">
                          <a:solidFill>
                            <a:srgbClr val="FF0000"/>
                          </a:solidFill>
                          <a:latin typeface="Calibri"/>
                        </a:rPr>
                        <a:t>-14%</a:t>
                      </a:r>
                    </a:p>
                  </a:txBody>
                  <a:tcPr marL="9525" marR="9525" marT="9525" marB="0" anchor="b"/>
                </a:tc>
                <a:tc>
                  <a:txBody>
                    <a:bodyPr/>
                    <a:lstStyle/>
                    <a:p>
                      <a:pPr algn="l" fontAlgn="b"/>
                      <a:r>
                        <a:rPr lang="en-IN" sz="1600" b="0" i="0" u="none" strike="noStrike">
                          <a:solidFill>
                            <a:srgbClr val="000000"/>
                          </a:solidFill>
                          <a:latin typeface="Calibri"/>
                        </a:rPr>
                        <a:t>-ve</a:t>
                      </a:r>
                    </a:p>
                  </a:txBody>
                  <a:tcPr marL="9525" marR="9525" marT="9525" marB="0" anchor="b"/>
                </a:tc>
                <a:extLst>
                  <a:ext uri="{0D108BD9-81ED-4DB2-BD59-A6C34878D82A}">
                    <a16:rowId xmlns:a16="http://schemas.microsoft.com/office/drawing/2014/main" val="10004"/>
                  </a:ext>
                </a:extLst>
              </a:tr>
              <a:tr h="423873">
                <a:tc>
                  <a:txBody>
                    <a:bodyPr/>
                    <a:lstStyle/>
                    <a:p>
                      <a:pPr algn="l" fontAlgn="b"/>
                      <a:r>
                        <a:rPr lang="en-IN" sz="1600" b="0" i="0" u="none" strike="noStrike" dirty="0">
                          <a:solidFill>
                            <a:srgbClr val="000000"/>
                          </a:solidFill>
                          <a:latin typeface="Calibri"/>
                        </a:rPr>
                        <a:t>FALTA SPECIAL ECONOMIC ZONE</a:t>
                      </a:r>
                    </a:p>
                  </a:txBody>
                  <a:tcPr marL="9525" marR="9525" marT="9525" marB="0" anchor="b"/>
                </a:tc>
                <a:tc>
                  <a:txBody>
                    <a:bodyPr/>
                    <a:lstStyle/>
                    <a:p>
                      <a:pPr algn="ctr" fontAlgn="b"/>
                      <a:r>
                        <a:rPr lang="en-IN" sz="1600" b="0" i="0" u="none" strike="noStrike" dirty="0">
                          <a:solidFill>
                            <a:srgbClr val="000000"/>
                          </a:solidFill>
                          <a:latin typeface="Calibri"/>
                        </a:rPr>
                        <a:t>₹ 744</a:t>
                      </a:r>
                    </a:p>
                  </a:txBody>
                  <a:tcPr marL="9525" marR="9525" marT="9525" marB="0" anchor="b"/>
                </a:tc>
                <a:tc>
                  <a:txBody>
                    <a:bodyPr/>
                    <a:lstStyle/>
                    <a:p>
                      <a:pPr algn="ctr" fontAlgn="b"/>
                      <a:r>
                        <a:rPr lang="en-IN" sz="1600" b="0" i="0" u="none" strike="noStrike" dirty="0">
                          <a:solidFill>
                            <a:srgbClr val="000000"/>
                          </a:solidFill>
                          <a:latin typeface="Calibri"/>
                        </a:rPr>
                        <a:t>₹ 610</a:t>
                      </a:r>
                    </a:p>
                  </a:txBody>
                  <a:tcPr marL="9525" marR="9525" marT="9525" marB="0" anchor="b"/>
                </a:tc>
                <a:tc>
                  <a:txBody>
                    <a:bodyPr/>
                    <a:lstStyle/>
                    <a:p>
                      <a:pPr algn="ctr" fontAlgn="b"/>
                      <a:r>
                        <a:rPr lang="en-IN" sz="1600" b="0" i="0" u="none" strike="noStrike" dirty="0">
                          <a:solidFill>
                            <a:srgbClr val="00B050"/>
                          </a:solidFill>
                          <a:latin typeface="Calibri"/>
                        </a:rPr>
                        <a:t>₹ 134</a:t>
                      </a:r>
                    </a:p>
                  </a:txBody>
                  <a:tcPr marL="9525" marR="9525" marT="9525" marB="0" anchor="b"/>
                </a:tc>
                <a:tc>
                  <a:txBody>
                    <a:bodyPr/>
                    <a:lstStyle/>
                    <a:p>
                      <a:pPr algn="ctr" fontAlgn="b"/>
                      <a:r>
                        <a:rPr lang="en-IN" sz="1600" b="0" i="0" u="none" strike="noStrike">
                          <a:solidFill>
                            <a:srgbClr val="00B050"/>
                          </a:solidFill>
                          <a:latin typeface="Calibri"/>
                        </a:rPr>
                        <a:t>+22%</a:t>
                      </a:r>
                    </a:p>
                  </a:txBody>
                  <a:tcPr marL="9525" marR="9525" marT="9525" marB="0" anchor="b"/>
                </a:tc>
                <a:tc>
                  <a:txBody>
                    <a:bodyPr/>
                    <a:lstStyle/>
                    <a:p>
                      <a:pPr algn="l" fontAlgn="b"/>
                      <a:r>
                        <a:rPr lang="en-IN" sz="1600" b="0" i="0" u="none" strike="noStrike">
                          <a:solidFill>
                            <a:srgbClr val="000000"/>
                          </a:solidFill>
                          <a:latin typeface="Calibri"/>
                        </a:rPr>
                        <a:t>+ve</a:t>
                      </a:r>
                    </a:p>
                  </a:txBody>
                  <a:tcPr marL="9525" marR="9525" marT="9525" marB="0" anchor="b"/>
                </a:tc>
                <a:extLst>
                  <a:ext uri="{0D108BD9-81ED-4DB2-BD59-A6C34878D82A}">
                    <a16:rowId xmlns:a16="http://schemas.microsoft.com/office/drawing/2014/main" val="10005"/>
                  </a:ext>
                </a:extLst>
              </a:tr>
              <a:tr h="641048">
                <a:tc>
                  <a:txBody>
                    <a:bodyPr/>
                    <a:lstStyle/>
                    <a:p>
                      <a:pPr algn="l" fontAlgn="b"/>
                      <a:r>
                        <a:rPr lang="en-IN" sz="1600" b="0" i="0" u="none" strike="noStrike" dirty="0">
                          <a:solidFill>
                            <a:srgbClr val="000000"/>
                          </a:solidFill>
                          <a:latin typeface="Calibri"/>
                        </a:rPr>
                        <a:t>MANIKANCHAN SPECIAL ECONOMIC ZONE</a:t>
                      </a:r>
                    </a:p>
                  </a:txBody>
                  <a:tcPr marL="9525" marR="9525" marT="9525" marB="0" anchor="b"/>
                </a:tc>
                <a:tc>
                  <a:txBody>
                    <a:bodyPr/>
                    <a:lstStyle/>
                    <a:p>
                      <a:pPr algn="ctr" fontAlgn="b"/>
                      <a:r>
                        <a:rPr lang="en-IN" sz="1600" b="0" i="0" u="none" strike="noStrike" dirty="0">
                          <a:solidFill>
                            <a:srgbClr val="000000"/>
                          </a:solidFill>
                          <a:latin typeface="Calibri"/>
                        </a:rPr>
                        <a:t>₹ 312</a:t>
                      </a:r>
                    </a:p>
                  </a:txBody>
                  <a:tcPr marL="9525" marR="9525" marT="9525" marB="0" anchor="b"/>
                </a:tc>
                <a:tc>
                  <a:txBody>
                    <a:bodyPr/>
                    <a:lstStyle/>
                    <a:p>
                      <a:pPr algn="ctr" fontAlgn="b"/>
                      <a:r>
                        <a:rPr lang="en-IN" sz="1600" b="0" i="0" u="none" strike="noStrike" dirty="0">
                          <a:solidFill>
                            <a:srgbClr val="000000"/>
                          </a:solidFill>
                          <a:latin typeface="Calibri"/>
                        </a:rPr>
                        <a:t>₹ 344</a:t>
                      </a:r>
                    </a:p>
                  </a:txBody>
                  <a:tcPr marL="9525" marR="9525" marT="9525" marB="0" anchor="b"/>
                </a:tc>
                <a:tc>
                  <a:txBody>
                    <a:bodyPr/>
                    <a:lstStyle/>
                    <a:p>
                      <a:pPr algn="ctr" fontAlgn="b"/>
                      <a:r>
                        <a:rPr lang="en-IN" sz="1600" b="0" i="0" u="none" strike="noStrike" dirty="0">
                          <a:solidFill>
                            <a:srgbClr val="FF0000"/>
                          </a:solidFill>
                          <a:latin typeface="Calibri"/>
                        </a:rPr>
                        <a:t>-₹ 32</a:t>
                      </a:r>
                    </a:p>
                  </a:txBody>
                  <a:tcPr marL="9525" marR="9525" marT="9525" marB="0" anchor="b"/>
                </a:tc>
                <a:tc>
                  <a:txBody>
                    <a:bodyPr/>
                    <a:lstStyle/>
                    <a:p>
                      <a:pPr algn="ctr" fontAlgn="b"/>
                      <a:r>
                        <a:rPr lang="en-IN" sz="1600" b="0" i="0" u="none" strike="noStrike">
                          <a:solidFill>
                            <a:srgbClr val="FF0000"/>
                          </a:solidFill>
                          <a:latin typeface="Calibri"/>
                        </a:rPr>
                        <a:t>-9%</a:t>
                      </a:r>
                    </a:p>
                  </a:txBody>
                  <a:tcPr marL="9525" marR="9525" marT="9525" marB="0" anchor="b"/>
                </a:tc>
                <a:tc>
                  <a:txBody>
                    <a:bodyPr/>
                    <a:lstStyle/>
                    <a:p>
                      <a:pPr algn="l" fontAlgn="b"/>
                      <a:r>
                        <a:rPr lang="en-IN" sz="1600" b="0" i="0" u="none" strike="noStrike">
                          <a:solidFill>
                            <a:srgbClr val="000000"/>
                          </a:solidFill>
                          <a:latin typeface="Calibri"/>
                        </a:rPr>
                        <a:t>-ve</a:t>
                      </a:r>
                    </a:p>
                  </a:txBody>
                  <a:tcPr marL="9525" marR="9525" marT="9525" marB="0" anchor="b"/>
                </a:tc>
                <a:extLst>
                  <a:ext uri="{0D108BD9-81ED-4DB2-BD59-A6C34878D82A}">
                    <a16:rowId xmlns:a16="http://schemas.microsoft.com/office/drawing/2014/main" val="10006"/>
                  </a:ext>
                </a:extLst>
              </a:tr>
              <a:tr h="583726">
                <a:tc>
                  <a:txBody>
                    <a:bodyPr/>
                    <a:lstStyle/>
                    <a:p>
                      <a:pPr algn="l" fontAlgn="b"/>
                      <a:r>
                        <a:rPr lang="en-IN" sz="1600" b="0" i="0" u="none" strike="noStrike" dirty="0">
                          <a:solidFill>
                            <a:srgbClr val="000000"/>
                          </a:solidFill>
                          <a:latin typeface="Calibri"/>
                        </a:rPr>
                        <a:t>SARAF AGENCIES PVT. LTD.</a:t>
                      </a:r>
                    </a:p>
                  </a:txBody>
                  <a:tcPr marL="9525" marR="9525" marT="9525" marB="0" anchor="b"/>
                </a:tc>
                <a:tc>
                  <a:txBody>
                    <a:bodyPr/>
                    <a:lstStyle/>
                    <a:p>
                      <a:pPr algn="ctr" fontAlgn="b"/>
                      <a:r>
                        <a:rPr lang="en-IN" sz="1600" b="0" i="0" u="none" strike="noStrike" dirty="0">
                          <a:solidFill>
                            <a:srgbClr val="000000"/>
                          </a:solidFill>
                          <a:latin typeface="Calibri"/>
                        </a:rPr>
                        <a:t>₹ 29</a:t>
                      </a:r>
                    </a:p>
                  </a:txBody>
                  <a:tcPr marL="9525" marR="9525" marT="9525" marB="0" anchor="b"/>
                </a:tc>
                <a:tc>
                  <a:txBody>
                    <a:bodyPr/>
                    <a:lstStyle/>
                    <a:p>
                      <a:pPr algn="ctr" fontAlgn="b"/>
                      <a:r>
                        <a:rPr lang="en-IN" sz="1600" b="0" i="0" u="none" strike="noStrike" dirty="0">
                          <a:solidFill>
                            <a:srgbClr val="000000"/>
                          </a:solidFill>
                          <a:latin typeface="Calibri"/>
                        </a:rPr>
                        <a:t>₹ 132</a:t>
                      </a:r>
                    </a:p>
                  </a:txBody>
                  <a:tcPr marL="9525" marR="9525" marT="9525" marB="0" anchor="b"/>
                </a:tc>
                <a:tc>
                  <a:txBody>
                    <a:bodyPr/>
                    <a:lstStyle/>
                    <a:p>
                      <a:pPr algn="ctr" fontAlgn="b"/>
                      <a:r>
                        <a:rPr lang="en-IN" sz="1600" b="0" i="0" u="none" strike="noStrike" dirty="0">
                          <a:solidFill>
                            <a:srgbClr val="FF0000"/>
                          </a:solidFill>
                          <a:latin typeface="Calibri"/>
                        </a:rPr>
                        <a:t>-₹ 103</a:t>
                      </a:r>
                    </a:p>
                  </a:txBody>
                  <a:tcPr marL="9525" marR="9525" marT="9525" marB="0" anchor="b"/>
                </a:tc>
                <a:tc>
                  <a:txBody>
                    <a:bodyPr/>
                    <a:lstStyle/>
                    <a:p>
                      <a:pPr algn="ctr" fontAlgn="b"/>
                      <a:r>
                        <a:rPr lang="en-IN" sz="1600" b="0" i="0" u="none" strike="noStrike" dirty="0">
                          <a:solidFill>
                            <a:srgbClr val="FF0000"/>
                          </a:solidFill>
                          <a:latin typeface="Calibri"/>
                        </a:rPr>
                        <a:t>-78%</a:t>
                      </a:r>
                    </a:p>
                  </a:txBody>
                  <a:tcPr marL="9525" marR="9525" marT="9525" marB="0" anchor="b"/>
                </a:tc>
                <a:tc>
                  <a:txBody>
                    <a:bodyPr/>
                    <a:lstStyle/>
                    <a:p>
                      <a:pPr algn="l" fontAlgn="b"/>
                      <a:r>
                        <a:rPr lang="en-IN" sz="1600" b="0" i="0" u="none" strike="noStrike">
                          <a:solidFill>
                            <a:srgbClr val="000000"/>
                          </a:solidFill>
                          <a:latin typeface="Calibri"/>
                        </a:rPr>
                        <a:t>-ve</a:t>
                      </a:r>
                    </a:p>
                  </a:txBody>
                  <a:tcPr marL="9525" marR="9525" marT="9525" marB="0" anchor="b"/>
                </a:tc>
                <a:extLst>
                  <a:ext uri="{0D108BD9-81ED-4DB2-BD59-A6C34878D82A}">
                    <a16:rowId xmlns:a16="http://schemas.microsoft.com/office/drawing/2014/main" val="10007"/>
                  </a:ext>
                </a:extLst>
              </a:tr>
              <a:tr h="869998">
                <a:tc>
                  <a:txBody>
                    <a:bodyPr/>
                    <a:lstStyle/>
                    <a:p>
                      <a:pPr algn="l" fontAlgn="b"/>
                      <a:r>
                        <a:rPr lang="it-IT" sz="1600" b="0" i="0" u="none" strike="noStrike" dirty="0">
                          <a:solidFill>
                            <a:srgbClr val="000000"/>
                          </a:solidFill>
                          <a:latin typeface="Calibri"/>
                        </a:rPr>
                        <a:t>TATA STEEL SPECIAL ECONOMIC ZONE LIMITED</a:t>
                      </a:r>
                    </a:p>
                  </a:txBody>
                  <a:tcPr marL="9525" marR="9525" marT="9525" marB="0" anchor="b"/>
                </a:tc>
                <a:tc>
                  <a:txBody>
                    <a:bodyPr/>
                    <a:lstStyle/>
                    <a:p>
                      <a:pPr algn="ctr" fontAlgn="b"/>
                      <a:r>
                        <a:rPr lang="en-IN" sz="1600" b="0" i="0" u="none" strike="noStrike" dirty="0">
                          <a:solidFill>
                            <a:srgbClr val="000000"/>
                          </a:solidFill>
                          <a:latin typeface="Calibri"/>
                        </a:rPr>
                        <a:t>₹ 4</a:t>
                      </a:r>
                    </a:p>
                  </a:txBody>
                  <a:tcPr marL="9525" marR="9525" marT="9525" marB="0" anchor="b"/>
                </a:tc>
                <a:tc>
                  <a:txBody>
                    <a:bodyPr/>
                    <a:lstStyle/>
                    <a:p>
                      <a:pPr algn="ctr" fontAlgn="b"/>
                      <a:r>
                        <a:rPr lang="en-IN" sz="1600" b="0" i="0" u="none" strike="noStrike" dirty="0">
                          <a:solidFill>
                            <a:srgbClr val="000000"/>
                          </a:solidFill>
                          <a:latin typeface="Calibri"/>
                        </a:rPr>
                        <a:t>₹ 0</a:t>
                      </a:r>
                    </a:p>
                  </a:txBody>
                  <a:tcPr marL="9525" marR="9525" marT="9525" marB="0" anchor="b"/>
                </a:tc>
                <a:tc>
                  <a:txBody>
                    <a:bodyPr/>
                    <a:lstStyle/>
                    <a:p>
                      <a:pPr algn="ctr" fontAlgn="b"/>
                      <a:r>
                        <a:rPr lang="en-IN" sz="1600" b="0" i="0" u="none" strike="noStrike" dirty="0">
                          <a:solidFill>
                            <a:srgbClr val="00B050"/>
                          </a:solidFill>
                          <a:latin typeface="Calibri"/>
                        </a:rPr>
                        <a:t>₹ 4</a:t>
                      </a:r>
                    </a:p>
                  </a:txBody>
                  <a:tcPr marL="9525" marR="9525" marT="9525" marB="0" anchor="b"/>
                </a:tc>
                <a:tc>
                  <a:txBody>
                    <a:bodyPr/>
                    <a:lstStyle/>
                    <a:p>
                      <a:pPr algn="ctr" fontAlgn="b"/>
                      <a:endParaRPr lang="en-IN" sz="1600" b="0" i="0" u="none" strike="noStrike" dirty="0">
                        <a:solidFill>
                          <a:srgbClr val="00B050"/>
                        </a:solidFill>
                        <a:latin typeface="Calibri"/>
                      </a:endParaRPr>
                    </a:p>
                  </a:txBody>
                  <a:tcPr marL="9525" marR="9525" marT="9525" marB="0" anchor="b"/>
                </a:tc>
                <a:tc>
                  <a:txBody>
                    <a:bodyPr/>
                    <a:lstStyle/>
                    <a:p>
                      <a:pPr algn="l" fontAlgn="b"/>
                      <a:r>
                        <a:rPr lang="en-IN" sz="1600" b="0" i="0" u="none" strike="noStrike" dirty="0">
                          <a:solidFill>
                            <a:srgbClr val="000000"/>
                          </a:solidFill>
                          <a:latin typeface="Calibri"/>
                        </a:rPr>
                        <a:t>+</a:t>
                      </a:r>
                      <a:r>
                        <a:rPr lang="en-IN" sz="1600" b="0" i="0" u="none" strike="noStrike" dirty="0" err="1">
                          <a:solidFill>
                            <a:srgbClr val="000000"/>
                          </a:solidFill>
                          <a:latin typeface="Calibri"/>
                        </a:rPr>
                        <a:t>ve</a:t>
                      </a:r>
                      <a:endParaRPr lang="en-IN" sz="1600" b="0" i="0" u="none" strike="noStrike" dirty="0">
                        <a:solidFill>
                          <a:srgbClr val="000000"/>
                        </a:solidFill>
                        <a:latin typeface="Calibri"/>
                      </a:endParaRPr>
                    </a:p>
                  </a:txBody>
                  <a:tcPr marL="9525" marR="9525" marT="9525" marB="0" anchor="b"/>
                </a:tc>
                <a:extLst>
                  <a:ext uri="{0D108BD9-81ED-4DB2-BD59-A6C34878D82A}">
                    <a16:rowId xmlns:a16="http://schemas.microsoft.com/office/drawing/2014/main" val="10008"/>
                  </a:ext>
                </a:extLst>
              </a:tr>
              <a:tr h="869998">
                <a:tc>
                  <a:txBody>
                    <a:bodyPr/>
                    <a:lstStyle/>
                    <a:p>
                      <a:pPr algn="l" fontAlgn="b"/>
                      <a:r>
                        <a:rPr lang="it-IT" sz="1600" b="0" i="0" u="none" strike="noStrike" dirty="0">
                          <a:solidFill>
                            <a:srgbClr val="000000"/>
                          </a:solidFill>
                          <a:latin typeface="+mn-lt"/>
                        </a:rPr>
                        <a:t>ADANI POWER (JHARKHAND) LIMITED</a:t>
                      </a:r>
                      <a:endParaRPr lang="it-IT" sz="1600" b="0" i="0" u="none" strike="noStrike" dirty="0">
                        <a:solidFill>
                          <a:srgbClr val="000000"/>
                        </a:solidFill>
                        <a:latin typeface="Calibri"/>
                      </a:endParaRPr>
                    </a:p>
                  </a:txBody>
                  <a:tcPr marL="9525" marR="9525" marT="9525" marB="0" anchor="b"/>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IN" sz="1600" b="0" i="0" u="none" strike="noStrike" dirty="0">
                          <a:solidFill>
                            <a:srgbClr val="000000"/>
                          </a:solidFill>
                          <a:latin typeface="+mn-lt"/>
                        </a:rPr>
                        <a:t>₹ 0</a:t>
                      </a:r>
                    </a:p>
                    <a:p>
                      <a:pPr algn="ctr" fontAlgn="b"/>
                      <a:endParaRPr lang="en-IN" sz="1600" b="0" i="0" u="none" strike="noStrike" dirty="0">
                        <a:solidFill>
                          <a:srgbClr val="000000"/>
                        </a:solidFill>
                        <a:latin typeface="Calibri"/>
                      </a:endParaRPr>
                    </a:p>
                  </a:txBody>
                  <a:tcPr marL="9525" marR="9525" marT="9525" marB="0" anchor="b"/>
                </a:tc>
                <a:tc>
                  <a:txBody>
                    <a:bodyPr/>
                    <a:lstStyle/>
                    <a:p>
                      <a:pPr algn="ctr" fontAlgn="b"/>
                      <a:r>
                        <a:rPr lang="en-IN" sz="1600" b="0" i="0" u="none" strike="noStrike" dirty="0">
                          <a:solidFill>
                            <a:srgbClr val="000000"/>
                          </a:solidFill>
                          <a:latin typeface="Calibri"/>
                        </a:rPr>
                        <a:t>₹ 0</a:t>
                      </a:r>
                    </a:p>
                  </a:txBody>
                  <a:tcPr marL="9525" marR="9525" marT="9525" marB="0" anchor="b"/>
                </a:tc>
                <a:tc>
                  <a:txBody>
                    <a:bodyPr/>
                    <a:lstStyle/>
                    <a:p>
                      <a:pPr algn="ctr" fontAlgn="b"/>
                      <a:r>
                        <a:rPr lang="en-IN" sz="1600" b="0" i="0" u="none" strike="noStrike" dirty="0">
                          <a:solidFill>
                            <a:srgbClr val="00B050"/>
                          </a:solidFill>
                          <a:latin typeface="Calibri"/>
                        </a:rPr>
                        <a:t>₹ 0</a:t>
                      </a:r>
                    </a:p>
                  </a:txBody>
                  <a:tcPr marL="9525" marR="9525" marT="9525" marB="0" anchor="b"/>
                </a:tc>
                <a:tc>
                  <a:txBody>
                    <a:bodyPr/>
                    <a:lstStyle/>
                    <a:p>
                      <a:pPr algn="r" fontAlgn="b"/>
                      <a:endParaRPr lang="en-US" sz="3200" b="0" i="0" u="none" strike="noStrike" dirty="0">
                        <a:solidFill>
                          <a:srgbClr val="000000"/>
                        </a:solidFill>
                        <a:latin typeface="Calibri"/>
                      </a:endParaRPr>
                    </a:p>
                    <a:p>
                      <a:pPr algn="r" fontAlgn="b"/>
                      <a:endParaRPr lang="en-IN" sz="3200" b="0" i="0" u="none" strike="noStrike" dirty="0">
                        <a:solidFill>
                          <a:srgbClr val="000000"/>
                        </a:solidFill>
                        <a:latin typeface="Calibri"/>
                      </a:endParaRPr>
                    </a:p>
                  </a:txBody>
                  <a:tcPr marL="9525" marR="9525" marT="9525" marB="0" anchor="b"/>
                </a:tc>
                <a:tc>
                  <a:txBody>
                    <a:bodyPr/>
                    <a:lstStyle/>
                    <a:p>
                      <a:pPr algn="l" fontAlgn="b"/>
                      <a:endParaRPr lang="en-IN" sz="1600" b="0" i="0" u="none" strike="noStrike" dirty="0">
                        <a:solidFill>
                          <a:srgbClr val="000000"/>
                        </a:solidFill>
                        <a:latin typeface="Calibri"/>
                      </a:endParaRPr>
                    </a:p>
                  </a:txBody>
                  <a:tcPr marL="9525" marR="9525" marT="9525" marB="0" anchor="b"/>
                </a:tc>
                <a:extLst>
                  <a:ext uri="{0D108BD9-81ED-4DB2-BD59-A6C34878D82A}">
                    <a16:rowId xmlns:a16="http://schemas.microsoft.com/office/drawing/2014/main" val="10009"/>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p:cNvGraphicFramePr>
            <a:graphicFrameLocks noGrp="1"/>
          </p:cNvGraphicFramePr>
          <p:nvPr/>
        </p:nvGraphicFramePr>
        <p:xfrm>
          <a:off x="428598" y="214291"/>
          <a:ext cx="8286804" cy="6577023"/>
        </p:xfrm>
        <a:graphic>
          <a:graphicData uri="http://schemas.openxmlformats.org/drawingml/2006/table">
            <a:tbl>
              <a:tblPr firstRow="1" bandRow="1">
                <a:tableStyleId>{5C22544A-7EE6-4342-B048-85BDC9FD1C3A}</a:tableStyleId>
              </a:tblPr>
              <a:tblGrid>
                <a:gridCol w="1785948">
                  <a:extLst>
                    <a:ext uri="{9D8B030D-6E8A-4147-A177-3AD203B41FA5}">
                      <a16:colId xmlns:a16="http://schemas.microsoft.com/office/drawing/2014/main" val="20000"/>
                    </a:ext>
                  </a:extLst>
                </a:gridCol>
                <a:gridCol w="976320">
                  <a:extLst>
                    <a:ext uri="{9D8B030D-6E8A-4147-A177-3AD203B41FA5}">
                      <a16:colId xmlns:a16="http://schemas.microsoft.com/office/drawing/2014/main" val="20001"/>
                    </a:ext>
                  </a:extLst>
                </a:gridCol>
                <a:gridCol w="1381134">
                  <a:extLst>
                    <a:ext uri="{9D8B030D-6E8A-4147-A177-3AD203B41FA5}">
                      <a16:colId xmlns:a16="http://schemas.microsoft.com/office/drawing/2014/main" val="20002"/>
                    </a:ext>
                  </a:extLst>
                </a:gridCol>
                <a:gridCol w="1381134">
                  <a:extLst>
                    <a:ext uri="{9D8B030D-6E8A-4147-A177-3AD203B41FA5}">
                      <a16:colId xmlns:a16="http://schemas.microsoft.com/office/drawing/2014/main" val="20003"/>
                    </a:ext>
                  </a:extLst>
                </a:gridCol>
                <a:gridCol w="1381134">
                  <a:extLst>
                    <a:ext uri="{9D8B030D-6E8A-4147-A177-3AD203B41FA5}">
                      <a16:colId xmlns:a16="http://schemas.microsoft.com/office/drawing/2014/main" val="20004"/>
                    </a:ext>
                  </a:extLst>
                </a:gridCol>
                <a:gridCol w="1381134">
                  <a:extLst>
                    <a:ext uri="{9D8B030D-6E8A-4147-A177-3AD203B41FA5}">
                      <a16:colId xmlns:a16="http://schemas.microsoft.com/office/drawing/2014/main" val="20005"/>
                    </a:ext>
                  </a:extLst>
                </a:gridCol>
              </a:tblGrid>
              <a:tr h="453243">
                <a:tc gridSpan="6">
                  <a:txBody>
                    <a:bodyPr/>
                    <a:lstStyle/>
                    <a:p>
                      <a:r>
                        <a:rPr lang="en-IN" dirty="0"/>
                        <a:t>                                                      FALTA SPECIAL ECONOMIC ZONE</a:t>
                      </a:r>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10000"/>
                  </a:ext>
                </a:extLst>
              </a:tr>
              <a:tr h="453243">
                <a:tc gridSpan="6">
                  <a:txBody>
                    <a:bodyPr/>
                    <a:lstStyle/>
                    <a:p>
                      <a:r>
                        <a:rPr lang="en-IN" sz="1400" dirty="0" err="1"/>
                        <a:t>Sez</a:t>
                      </a:r>
                      <a:r>
                        <a:rPr lang="en-IN" sz="1400" dirty="0"/>
                        <a:t> Wise Software and Service Exports from-April to July</a:t>
                      </a:r>
                      <a:r>
                        <a:rPr lang="en-IN" sz="1400" baseline="0" dirty="0"/>
                        <a:t> </a:t>
                      </a:r>
                      <a:r>
                        <a:rPr lang="en-IN" sz="1400" dirty="0"/>
                        <a:t>( FY-2023-24 </a:t>
                      </a:r>
                      <a:r>
                        <a:rPr lang="en-IN" sz="1400" dirty="0" err="1"/>
                        <a:t>vs</a:t>
                      </a:r>
                      <a:r>
                        <a:rPr lang="en-IN" sz="1400" dirty="0"/>
                        <a:t> FY-2022-23 )</a:t>
                      </a:r>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10001"/>
                  </a:ext>
                </a:extLst>
              </a:tr>
              <a:tr h="547917">
                <a:tc rowSpan="2">
                  <a:txBody>
                    <a:bodyPr/>
                    <a:lstStyle/>
                    <a:p>
                      <a:r>
                        <a:rPr lang="en-IN" sz="1400" dirty="0" err="1"/>
                        <a:t>Sez</a:t>
                      </a:r>
                      <a:r>
                        <a:rPr lang="en-IN" sz="1400" dirty="0"/>
                        <a:t> Name</a:t>
                      </a:r>
                    </a:p>
                  </a:txBody>
                  <a:tcPr/>
                </a:tc>
                <a:tc>
                  <a:txBody>
                    <a:bodyPr/>
                    <a:lstStyle/>
                    <a:p>
                      <a:r>
                        <a:rPr lang="en-IN" sz="1400" dirty="0"/>
                        <a:t>FY-2023-24</a:t>
                      </a:r>
                    </a:p>
                  </a:txBody>
                  <a:tcPr/>
                </a:tc>
                <a:tc>
                  <a:txBody>
                    <a:bodyPr/>
                    <a:lstStyle/>
                    <a:p>
                      <a:r>
                        <a:rPr lang="en-IN" sz="1400" dirty="0"/>
                        <a:t>FY-2022-23</a:t>
                      </a:r>
                    </a:p>
                  </a:txBody>
                  <a:tcPr/>
                </a:tc>
                <a:tc>
                  <a:txBody>
                    <a:bodyPr/>
                    <a:lstStyle/>
                    <a:p>
                      <a:r>
                        <a:rPr lang="en-IN" sz="1400" dirty="0"/>
                        <a:t>Change In </a:t>
                      </a:r>
                      <a:r>
                        <a:rPr lang="en-IN" sz="1400" dirty="0" err="1"/>
                        <a:t>Inr</a:t>
                      </a:r>
                      <a:endParaRPr lang="en-IN" sz="1400" dirty="0"/>
                    </a:p>
                  </a:txBody>
                  <a:tcPr/>
                </a:tc>
                <a:tc>
                  <a:txBody>
                    <a:bodyPr/>
                    <a:lstStyle/>
                    <a:p>
                      <a:r>
                        <a:rPr lang="en-IN" sz="1400" dirty="0" err="1"/>
                        <a:t>Inr</a:t>
                      </a:r>
                      <a:r>
                        <a:rPr lang="en-IN" sz="1400" dirty="0"/>
                        <a:t> terms</a:t>
                      </a:r>
                    </a:p>
                  </a:txBody>
                  <a:tcPr/>
                </a:tc>
                <a:tc>
                  <a:txBody>
                    <a:bodyPr/>
                    <a:lstStyle/>
                    <a:p>
                      <a:r>
                        <a:rPr lang="en-IN" sz="1400" dirty="0"/>
                        <a:t>Growth in </a:t>
                      </a:r>
                      <a:r>
                        <a:rPr lang="en-IN" sz="1400" dirty="0" err="1"/>
                        <a:t>Inr</a:t>
                      </a:r>
                      <a:r>
                        <a:rPr lang="en-IN" sz="1400" dirty="0"/>
                        <a:t> (+) </a:t>
                      </a:r>
                      <a:r>
                        <a:rPr lang="en-IN" sz="1400" dirty="0" err="1"/>
                        <a:t>ve</a:t>
                      </a:r>
                      <a:r>
                        <a:rPr lang="en-IN" sz="1400" dirty="0"/>
                        <a:t> or  (-) </a:t>
                      </a:r>
                      <a:r>
                        <a:rPr lang="en-IN" sz="1400" dirty="0" err="1"/>
                        <a:t>Ve</a:t>
                      </a:r>
                      <a:endParaRPr lang="en-IN" sz="1400" dirty="0"/>
                    </a:p>
                  </a:txBody>
                  <a:tcPr/>
                </a:tc>
                <a:extLst>
                  <a:ext uri="{0D108BD9-81ED-4DB2-BD59-A6C34878D82A}">
                    <a16:rowId xmlns:a16="http://schemas.microsoft.com/office/drawing/2014/main" val="10002"/>
                  </a:ext>
                </a:extLst>
              </a:tr>
              <a:tr h="547917">
                <a:tc vMerge="1">
                  <a:txBody>
                    <a:bodyPr/>
                    <a:lstStyle/>
                    <a:p>
                      <a:endParaRPr lang="en-IN" dirty="0"/>
                    </a:p>
                  </a:txBody>
                  <a:tcPr/>
                </a:tc>
                <a:tc>
                  <a:txBody>
                    <a:bodyPr/>
                    <a:lstStyle/>
                    <a:p>
                      <a:r>
                        <a:rPr lang="en-IN" sz="1400" dirty="0"/>
                        <a:t>INR (Rs. In Cr.) </a:t>
                      </a:r>
                    </a:p>
                  </a:txBody>
                  <a:tcPr/>
                </a:tc>
                <a:tc>
                  <a:txBody>
                    <a:bodyPr/>
                    <a:lstStyle/>
                    <a:p>
                      <a:r>
                        <a:rPr lang="en-IN" sz="1400" dirty="0"/>
                        <a:t>INR (Rs. In Cr.) </a:t>
                      </a:r>
                    </a:p>
                  </a:txBody>
                  <a:tcPr/>
                </a:tc>
                <a:tc>
                  <a:txBody>
                    <a:bodyPr/>
                    <a:lstStyle/>
                    <a:p>
                      <a:endParaRPr lang="en-IN" sz="1400" dirty="0"/>
                    </a:p>
                  </a:txBody>
                  <a:tcPr/>
                </a:tc>
                <a:tc>
                  <a:txBody>
                    <a:bodyPr/>
                    <a:lstStyle/>
                    <a:p>
                      <a:endParaRPr lang="en-IN" sz="1400" dirty="0"/>
                    </a:p>
                  </a:txBody>
                  <a:tcPr/>
                </a:tc>
                <a:tc>
                  <a:txBody>
                    <a:bodyPr/>
                    <a:lstStyle/>
                    <a:p>
                      <a:endParaRPr lang="en-IN" sz="1400" dirty="0"/>
                    </a:p>
                  </a:txBody>
                  <a:tcPr/>
                </a:tc>
                <a:extLst>
                  <a:ext uri="{0D108BD9-81ED-4DB2-BD59-A6C34878D82A}">
                    <a16:rowId xmlns:a16="http://schemas.microsoft.com/office/drawing/2014/main" val="10003"/>
                  </a:ext>
                </a:extLst>
              </a:tr>
              <a:tr h="461297">
                <a:tc>
                  <a:txBody>
                    <a:bodyPr/>
                    <a:lstStyle/>
                    <a:p>
                      <a:pPr algn="l" fontAlgn="b"/>
                      <a:r>
                        <a:rPr lang="en-IN" sz="1400" b="0" i="0" u="none" strike="noStrike" dirty="0">
                          <a:solidFill>
                            <a:srgbClr val="000000"/>
                          </a:solidFill>
                          <a:latin typeface="Calibri"/>
                        </a:rPr>
                        <a:t>TATA CONSULTANCY SERVICES</a:t>
                      </a:r>
                    </a:p>
                  </a:txBody>
                  <a:tcPr marL="9525" marR="9525" marT="9525" marB="0" anchor="b"/>
                </a:tc>
                <a:tc>
                  <a:txBody>
                    <a:bodyPr/>
                    <a:lstStyle/>
                    <a:p>
                      <a:pPr algn="ctr" fontAlgn="b"/>
                      <a:r>
                        <a:rPr lang="en-IN" sz="1600" b="0" i="0" u="none" strike="noStrike" dirty="0">
                          <a:solidFill>
                            <a:srgbClr val="000000"/>
                          </a:solidFill>
                          <a:latin typeface="Calibri"/>
                        </a:rPr>
                        <a:t>₹ 3,691</a:t>
                      </a:r>
                    </a:p>
                  </a:txBody>
                  <a:tcPr marL="9525" marR="9525" marT="9525" marB="0" anchor="b"/>
                </a:tc>
                <a:tc>
                  <a:txBody>
                    <a:bodyPr/>
                    <a:lstStyle/>
                    <a:p>
                      <a:pPr algn="ctr" fontAlgn="b"/>
                      <a:r>
                        <a:rPr lang="en-IN" sz="1600" b="0" i="0" u="none" strike="noStrike" dirty="0">
                          <a:solidFill>
                            <a:srgbClr val="000000"/>
                          </a:solidFill>
                          <a:latin typeface="Calibri"/>
                        </a:rPr>
                        <a:t>₹ 3,190</a:t>
                      </a:r>
                    </a:p>
                  </a:txBody>
                  <a:tcPr marL="9525" marR="9525" marT="9525" marB="0" anchor="b"/>
                </a:tc>
                <a:tc>
                  <a:txBody>
                    <a:bodyPr/>
                    <a:lstStyle/>
                    <a:p>
                      <a:pPr algn="ctr" fontAlgn="b"/>
                      <a:r>
                        <a:rPr lang="en-IN" sz="1600" b="0" i="0" u="none" strike="noStrike" dirty="0">
                          <a:solidFill>
                            <a:srgbClr val="00B050"/>
                          </a:solidFill>
                          <a:latin typeface="Calibri"/>
                        </a:rPr>
                        <a:t>₹ 501</a:t>
                      </a:r>
                    </a:p>
                  </a:txBody>
                  <a:tcPr marL="9525" marR="9525" marT="9525" marB="0" anchor="b"/>
                </a:tc>
                <a:tc>
                  <a:txBody>
                    <a:bodyPr/>
                    <a:lstStyle/>
                    <a:p>
                      <a:pPr algn="ctr" fontAlgn="b"/>
                      <a:r>
                        <a:rPr lang="en-IN" sz="1600" b="0" i="0" u="none" strike="noStrike" dirty="0">
                          <a:solidFill>
                            <a:srgbClr val="00B050"/>
                          </a:solidFill>
                          <a:latin typeface="Calibri"/>
                        </a:rPr>
                        <a:t>+14%</a:t>
                      </a:r>
                    </a:p>
                  </a:txBody>
                  <a:tcPr marL="9525" marR="9525" marT="9525" marB="0" anchor="b"/>
                </a:tc>
                <a:tc>
                  <a:txBody>
                    <a:bodyPr/>
                    <a:lstStyle/>
                    <a:p>
                      <a:pPr algn="l" fontAlgn="b"/>
                      <a:r>
                        <a:rPr lang="en-IN" sz="1600" b="0" i="0" u="none" strike="noStrike" dirty="0">
                          <a:solidFill>
                            <a:srgbClr val="000000"/>
                          </a:solidFill>
                          <a:latin typeface="Calibri"/>
                        </a:rPr>
                        <a:t>+</a:t>
                      </a:r>
                      <a:r>
                        <a:rPr lang="en-IN" sz="1600" b="0" i="0" u="none" strike="noStrike" dirty="0" err="1">
                          <a:solidFill>
                            <a:srgbClr val="000000"/>
                          </a:solidFill>
                          <a:latin typeface="Calibri"/>
                        </a:rPr>
                        <a:t>ve</a:t>
                      </a:r>
                      <a:endParaRPr lang="en-IN" sz="1600" b="0" i="0" u="none" strike="noStrike" dirty="0">
                        <a:solidFill>
                          <a:srgbClr val="000000"/>
                        </a:solidFill>
                        <a:latin typeface="Calibri"/>
                      </a:endParaRPr>
                    </a:p>
                  </a:txBody>
                  <a:tcPr marL="9525" marR="9525" marT="9525" marB="0" anchor="b"/>
                </a:tc>
                <a:extLst>
                  <a:ext uri="{0D108BD9-81ED-4DB2-BD59-A6C34878D82A}">
                    <a16:rowId xmlns:a16="http://schemas.microsoft.com/office/drawing/2014/main" val="10004"/>
                  </a:ext>
                </a:extLst>
              </a:tr>
              <a:tr h="1138136">
                <a:tc>
                  <a:txBody>
                    <a:bodyPr/>
                    <a:lstStyle/>
                    <a:p>
                      <a:pPr algn="l" fontAlgn="b"/>
                      <a:r>
                        <a:rPr lang="en-IN" sz="1400" b="0" i="0" u="none" strike="noStrike" dirty="0">
                          <a:solidFill>
                            <a:srgbClr val="000000"/>
                          </a:solidFill>
                          <a:latin typeface="Calibri"/>
                        </a:rPr>
                        <a:t>Orissa Industrial Infrastructure Development Corporation (IDCO) (IT/ITES SEZ)</a:t>
                      </a:r>
                    </a:p>
                  </a:txBody>
                  <a:tcPr marL="9525" marR="9525" marT="9525" marB="0" anchor="b"/>
                </a:tc>
                <a:tc>
                  <a:txBody>
                    <a:bodyPr/>
                    <a:lstStyle/>
                    <a:p>
                      <a:pPr algn="ctr" fontAlgn="b"/>
                      <a:r>
                        <a:rPr lang="en-IN" sz="1600" b="0" i="0" u="none" strike="noStrike" dirty="0">
                          <a:solidFill>
                            <a:srgbClr val="000000"/>
                          </a:solidFill>
                          <a:latin typeface="Calibri"/>
                        </a:rPr>
                        <a:t>₹ 672</a:t>
                      </a:r>
                    </a:p>
                  </a:txBody>
                  <a:tcPr marL="9525" marR="9525" marT="9525" marB="0" anchor="b"/>
                </a:tc>
                <a:tc>
                  <a:txBody>
                    <a:bodyPr/>
                    <a:lstStyle/>
                    <a:p>
                      <a:pPr algn="ctr" fontAlgn="b"/>
                      <a:r>
                        <a:rPr lang="en-IN" sz="1600" b="0" i="0" u="none" strike="noStrike" dirty="0">
                          <a:solidFill>
                            <a:srgbClr val="000000"/>
                          </a:solidFill>
                          <a:latin typeface="Calibri"/>
                        </a:rPr>
                        <a:t>₹ 627</a:t>
                      </a:r>
                    </a:p>
                  </a:txBody>
                  <a:tcPr marL="9525" marR="9525" marT="9525" marB="0" anchor="b"/>
                </a:tc>
                <a:tc>
                  <a:txBody>
                    <a:bodyPr/>
                    <a:lstStyle/>
                    <a:p>
                      <a:pPr algn="ctr" fontAlgn="b"/>
                      <a:r>
                        <a:rPr lang="en-IN" sz="1600" b="0" i="0" u="none" strike="noStrike" dirty="0">
                          <a:solidFill>
                            <a:srgbClr val="00B050"/>
                          </a:solidFill>
                          <a:latin typeface="Calibri"/>
                        </a:rPr>
                        <a:t>₹ 46</a:t>
                      </a:r>
                    </a:p>
                  </a:txBody>
                  <a:tcPr marL="9525" marR="9525" marT="9525" marB="0" anchor="b"/>
                </a:tc>
                <a:tc>
                  <a:txBody>
                    <a:bodyPr/>
                    <a:lstStyle/>
                    <a:p>
                      <a:pPr algn="ctr" fontAlgn="b"/>
                      <a:r>
                        <a:rPr lang="en-IN" sz="1600" b="0" i="0" u="none" strike="noStrike" dirty="0">
                          <a:solidFill>
                            <a:srgbClr val="00B050"/>
                          </a:solidFill>
                          <a:latin typeface="Calibri"/>
                        </a:rPr>
                        <a:t>+7%</a:t>
                      </a:r>
                    </a:p>
                  </a:txBody>
                  <a:tcPr marL="9525" marR="9525" marT="9525" marB="0" anchor="b"/>
                </a:tc>
                <a:tc>
                  <a:txBody>
                    <a:bodyPr/>
                    <a:lstStyle/>
                    <a:p>
                      <a:pPr algn="l" fontAlgn="b"/>
                      <a:r>
                        <a:rPr lang="en-IN" sz="1600" b="0" i="0" u="none" strike="noStrike" dirty="0">
                          <a:solidFill>
                            <a:srgbClr val="000000"/>
                          </a:solidFill>
                          <a:latin typeface="Calibri"/>
                        </a:rPr>
                        <a:t>+</a:t>
                      </a:r>
                      <a:r>
                        <a:rPr lang="en-IN" sz="1600" b="0" i="0" u="none" strike="noStrike" dirty="0" err="1">
                          <a:solidFill>
                            <a:srgbClr val="000000"/>
                          </a:solidFill>
                          <a:latin typeface="Calibri"/>
                        </a:rPr>
                        <a:t>ve</a:t>
                      </a:r>
                      <a:endParaRPr lang="en-IN" sz="1600" b="0" i="0" u="none" strike="noStrike" dirty="0">
                        <a:solidFill>
                          <a:srgbClr val="000000"/>
                        </a:solidFill>
                        <a:latin typeface="Calibri"/>
                      </a:endParaRPr>
                    </a:p>
                  </a:txBody>
                  <a:tcPr marL="9525" marR="9525" marT="9525" marB="0" anchor="b"/>
                </a:tc>
                <a:extLst>
                  <a:ext uri="{0D108BD9-81ED-4DB2-BD59-A6C34878D82A}">
                    <a16:rowId xmlns:a16="http://schemas.microsoft.com/office/drawing/2014/main" val="10005"/>
                  </a:ext>
                </a:extLst>
              </a:tr>
              <a:tr h="1138136">
                <a:tc>
                  <a:txBody>
                    <a:bodyPr/>
                    <a:lstStyle/>
                    <a:p>
                      <a:pPr algn="l" fontAlgn="b"/>
                      <a:r>
                        <a:rPr lang="en-IN" sz="1400" b="0" i="0" u="none" strike="noStrike">
                          <a:solidFill>
                            <a:srgbClr val="000000"/>
                          </a:solidFill>
                          <a:latin typeface="Calibri"/>
                        </a:rPr>
                        <a:t>Orissa Industrial Infrastructure Development Corporation (IDCO)IT knowledge park</a:t>
                      </a:r>
                    </a:p>
                  </a:txBody>
                  <a:tcPr marL="9525" marR="9525" marT="9525" marB="0" anchor="b"/>
                </a:tc>
                <a:tc>
                  <a:txBody>
                    <a:bodyPr/>
                    <a:lstStyle/>
                    <a:p>
                      <a:pPr algn="ctr" fontAlgn="b"/>
                      <a:r>
                        <a:rPr lang="en-IN" sz="1600" b="0" i="0" u="none" strike="noStrike" dirty="0">
                          <a:solidFill>
                            <a:srgbClr val="000000"/>
                          </a:solidFill>
                          <a:latin typeface="Calibri"/>
                        </a:rPr>
                        <a:t>₹ 6,661</a:t>
                      </a:r>
                    </a:p>
                  </a:txBody>
                  <a:tcPr marL="9525" marR="9525" marT="9525" marB="0" anchor="b"/>
                </a:tc>
                <a:tc>
                  <a:txBody>
                    <a:bodyPr/>
                    <a:lstStyle/>
                    <a:p>
                      <a:pPr algn="ctr" fontAlgn="b"/>
                      <a:r>
                        <a:rPr lang="en-IN" sz="1600" b="0" i="0" u="none" strike="noStrike" dirty="0">
                          <a:solidFill>
                            <a:srgbClr val="000000"/>
                          </a:solidFill>
                          <a:latin typeface="Calibri"/>
                        </a:rPr>
                        <a:t>₹ 382</a:t>
                      </a:r>
                    </a:p>
                  </a:txBody>
                  <a:tcPr marL="9525" marR="9525" marT="9525" marB="0" anchor="b"/>
                </a:tc>
                <a:tc>
                  <a:txBody>
                    <a:bodyPr/>
                    <a:lstStyle/>
                    <a:p>
                      <a:pPr algn="ctr" fontAlgn="b"/>
                      <a:r>
                        <a:rPr lang="en-IN" sz="1600" b="0" i="0" u="none" strike="noStrike" dirty="0">
                          <a:solidFill>
                            <a:srgbClr val="00B050"/>
                          </a:solidFill>
                          <a:latin typeface="Calibri"/>
                        </a:rPr>
                        <a:t>₹ 6,278</a:t>
                      </a:r>
                    </a:p>
                  </a:txBody>
                  <a:tcPr marL="9525" marR="9525" marT="9525" marB="0" anchor="b"/>
                </a:tc>
                <a:tc>
                  <a:txBody>
                    <a:bodyPr/>
                    <a:lstStyle/>
                    <a:p>
                      <a:pPr algn="ctr" fontAlgn="b"/>
                      <a:r>
                        <a:rPr lang="en-IN" sz="1600" b="0" i="0" u="none" strike="noStrike" dirty="0">
                          <a:solidFill>
                            <a:srgbClr val="00B050"/>
                          </a:solidFill>
                          <a:latin typeface="Calibri"/>
                        </a:rPr>
                        <a:t>+94%</a:t>
                      </a:r>
                    </a:p>
                  </a:txBody>
                  <a:tcPr marL="9525" marR="9525" marT="9525" marB="0" anchor="b"/>
                </a:tc>
                <a:tc>
                  <a:txBody>
                    <a:bodyPr/>
                    <a:lstStyle/>
                    <a:p>
                      <a:pPr algn="l" fontAlgn="b"/>
                      <a:r>
                        <a:rPr lang="en-IN" sz="1600" b="0" i="0" u="none" strike="noStrike" dirty="0">
                          <a:solidFill>
                            <a:srgbClr val="000000"/>
                          </a:solidFill>
                          <a:latin typeface="Calibri"/>
                        </a:rPr>
                        <a:t>+</a:t>
                      </a:r>
                      <a:r>
                        <a:rPr lang="en-IN" sz="1600" b="0" i="0" u="none" strike="noStrike" dirty="0" err="1">
                          <a:solidFill>
                            <a:srgbClr val="000000"/>
                          </a:solidFill>
                          <a:latin typeface="Calibri"/>
                        </a:rPr>
                        <a:t>ve</a:t>
                      </a:r>
                      <a:endParaRPr lang="en-IN" sz="1600" b="0" i="0" u="none" strike="noStrike" dirty="0">
                        <a:solidFill>
                          <a:srgbClr val="000000"/>
                        </a:solidFill>
                        <a:latin typeface="Calibri"/>
                      </a:endParaRPr>
                    </a:p>
                  </a:txBody>
                  <a:tcPr marL="9525" marR="9525" marT="9525" marB="0" anchor="b"/>
                </a:tc>
                <a:extLst>
                  <a:ext uri="{0D108BD9-81ED-4DB2-BD59-A6C34878D82A}">
                    <a16:rowId xmlns:a16="http://schemas.microsoft.com/office/drawing/2014/main" val="10006"/>
                  </a:ext>
                </a:extLst>
              </a:tr>
              <a:tr h="461297">
                <a:tc>
                  <a:txBody>
                    <a:bodyPr/>
                    <a:lstStyle/>
                    <a:p>
                      <a:pPr algn="l" fontAlgn="b"/>
                      <a:r>
                        <a:rPr lang="en-IN" sz="1400" b="0" i="0" u="none" strike="noStrike">
                          <a:solidFill>
                            <a:srgbClr val="000000"/>
                          </a:solidFill>
                          <a:latin typeface="Calibri"/>
                        </a:rPr>
                        <a:t>DLF Limited (IT/ITES SEZ)</a:t>
                      </a:r>
                    </a:p>
                  </a:txBody>
                  <a:tcPr marL="9525" marR="9525" marT="9525" marB="0" anchor="b"/>
                </a:tc>
                <a:tc>
                  <a:txBody>
                    <a:bodyPr/>
                    <a:lstStyle/>
                    <a:p>
                      <a:pPr algn="ctr" fontAlgn="b"/>
                      <a:r>
                        <a:rPr lang="en-IN" sz="1600" b="0" i="0" u="none" strike="noStrike" dirty="0">
                          <a:solidFill>
                            <a:srgbClr val="000000"/>
                          </a:solidFill>
                          <a:latin typeface="Calibri"/>
                        </a:rPr>
                        <a:t>₹ 608</a:t>
                      </a:r>
                    </a:p>
                  </a:txBody>
                  <a:tcPr marL="9525" marR="9525" marT="9525" marB="0" anchor="b"/>
                </a:tc>
                <a:tc>
                  <a:txBody>
                    <a:bodyPr/>
                    <a:lstStyle/>
                    <a:p>
                      <a:pPr algn="ctr" fontAlgn="b"/>
                      <a:r>
                        <a:rPr lang="en-IN" sz="1600" b="0" i="0" u="none" strike="noStrike" dirty="0">
                          <a:solidFill>
                            <a:srgbClr val="000000"/>
                          </a:solidFill>
                          <a:latin typeface="Calibri"/>
                        </a:rPr>
                        <a:t>₹ 539</a:t>
                      </a:r>
                    </a:p>
                  </a:txBody>
                  <a:tcPr marL="9525" marR="9525" marT="9525" marB="0" anchor="b"/>
                </a:tc>
                <a:tc>
                  <a:txBody>
                    <a:bodyPr/>
                    <a:lstStyle/>
                    <a:p>
                      <a:pPr algn="ctr" fontAlgn="b"/>
                      <a:r>
                        <a:rPr lang="en-IN" sz="1600" b="0" i="0" u="none" strike="noStrike" dirty="0">
                          <a:solidFill>
                            <a:srgbClr val="00B050"/>
                          </a:solidFill>
                          <a:latin typeface="Calibri"/>
                        </a:rPr>
                        <a:t>₹ 69</a:t>
                      </a:r>
                    </a:p>
                  </a:txBody>
                  <a:tcPr marL="9525" marR="9525" marT="9525" marB="0" anchor="b"/>
                </a:tc>
                <a:tc>
                  <a:txBody>
                    <a:bodyPr/>
                    <a:lstStyle/>
                    <a:p>
                      <a:pPr algn="ctr" fontAlgn="b"/>
                      <a:r>
                        <a:rPr lang="en-IN" sz="1600" b="0" i="0" u="none" strike="noStrike" dirty="0">
                          <a:solidFill>
                            <a:srgbClr val="00B050"/>
                          </a:solidFill>
                          <a:latin typeface="Calibri"/>
                        </a:rPr>
                        <a:t>+11%</a:t>
                      </a:r>
                    </a:p>
                  </a:txBody>
                  <a:tcPr marL="9525" marR="9525" marT="9525" marB="0" anchor="b"/>
                </a:tc>
                <a:tc>
                  <a:txBody>
                    <a:bodyPr/>
                    <a:lstStyle/>
                    <a:p>
                      <a:pPr algn="l" fontAlgn="b"/>
                      <a:r>
                        <a:rPr lang="en-IN" sz="1600" b="0" i="0" u="none" strike="noStrike" dirty="0">
                          <a:solidFill>
                            <a:srgbClr val="000000"/>
                          </a:solidFill>
                          <a:latin typeface="Calibri"/>
                        </a:rPr>
                        <a:t>+</a:t>
                      </a:r>
                      <a:r>
                        <a:rPr lang="en-IN" sz="1600" b="0" i="0" u="none" strike="noStrike" dirty="0" err="1">
                          <a:solidFill>
                            <a:srgbClr val="000000"/>
                          </a:solidFill>
                          <a:latin typeface="Calibri"/>
                        </a:rPr>
                        <a:t>ve</a:t>
                      </a:r>
                      <a:endParaRPr lang="en-IN" sz="1600" b="0" i="0" u="none" strike="noStrike" dirty="0">
                        <a:solidFill>
                          <a:srgbClr val="000000"/>
                        </a:solidFill>
                        <a:latin typeface="Calibri"/>
                      </a:endParaRPr>
                    </a:p>
                  </a:txBody>
                  <a:tcPr marL="9525" marR="9525" marT="9525" marB="0" anchor="b"/>
                </a:tc>
                <a:extLst>
                  <a:ext uri="{0D108BD9-81ED-4DB2-BD59-A6C34878D82A}">
                    <a16:rowId xmlns:a16="http://schemas.microsoft.com/office/drawing/2014/main" val="10007"/>
                  </a:ext>
                </a:extLst>
              </a:tr>
              <a:tr h="461297">
                <a:tc>
                  <a:txBody>
                    <a:bodyPr/>
                    <a:lstStyle/>
                    <a:p>
                      <a:pPr algn="l" fontAlgn="b"/>
                      <a:r>
                        <a:rPr lang="en-IN" sz="1400" b="0" i="0" u="none" strike="noStrike">
                          <a:solidFill>
                            <a:srgbClr val="000000"/>
                          </a:solidFill>
                          <a:latin typeface="Calibri"/>
                        </a:rPr>
                        <a:t>Wipro Special Economic Zone</a:t>
                      </a:r>
                    </a:p>
                  </a:txBody>
                  <a:tcPr marL="9525" marR="9525" marT="9525" marB="0" anchor="b"/>
                </a:tc>
                <a:tc>
                  <a:txBody>
                    <a:bodyPr/>
                    <a:lstStyle/>
                    <a:p>
                      <a:pPr algn="ctr" fontAlgn="b"/>
                      <a:r>
                        <a:rPr lang="en-IN" sz="1600" b="0" i="0" u="none" strike="noStrike" dirty="0">
                          <a:solidFill>
                            <a:srgbClr val="000000"/>
                          </a:solidFill>
                          <a:latin typeface="Calibri"/>
                        </a:rPr>
                        <a:t>₹ 324</a:t>
                      </a:r>
                    </a:p>
                  </a:txBody>
                  <a:tcPr marL="9525" marR="9525" marT="9525" marB="0" anchor="b"/>
                </a:tc>
                <a:tc>
                  <a:txBody>
                    <a:bodyPr/>
                    <a:lstStyle/>
                    <a:p>
                      <a:pPr algn="ctr" fontAlgn="b"/>
                      <a:r>
                        <a:rPr lang="en-IN" sz="1600" b="0" i="0" u="none" strike="noStrike" dirty="0">
                          <a:solidFill>
                            <a:srgbClr val="000000"/>
                          </a:solidFill>
                          <a:latin typeface="Calibri"/>
                        </a:rPr>
                        <a:t>₹ 389</a:t>
                      </a:r>
                    </a:p>
                  </a:txBody>
                  <a:tcPr marL="9525" marR="9525" marT="9525" marB="0" anchor="b"/>
                </a:tc>
                <a:tc>
                  <a:txBody>
                    <a:bodyPr/>
                    <a:lstStyle/>
                    <a:p>
                      <a:pPr algn="ctr" fontAlgn="b"/>
                      <a:r>
                        <a:rPr lang="en-IN" sz="1600" b="0" i="0" u="none" strike="noStrike" dirty="0">
                          <a:solidFill>
                            <a:srgbClr val="FF0000"/>
                          </a:solidFill>
                          <a:latin typeface="Calibri"/>
                        </a:rPr>
                        <a:t>-₹ 65</a:t>
                      </a:r>
                    </a:p>
                  </a:txBody>
                  <a:tcPr marL="9525" marR="9525" marT="9525" marB="0" anchor="b"/>
                </a:tc>
                <a:tc>
                  <a:txBody>
                    <a:bodyPr/>
                    <a:lstStyle/>
                    <a:p>
                      <a:pPr algn="ctr" fontAlgn="b"/>
                      <a:r>
                        <a:rPr lang="en-IN" sz="1600" b="0" i="0" u="none" strike="noStrike" dirty="0">
                          <a:solidFill>
                            <a:srgbClr val="FF0000"/>
                          </a:solidFill>
                          <a:latin typeface="Calibri"/>
                        </a:rPr>
                        <a:t>-20%</a:t>
                      </a:r>
                    </a:p>
                  </a:txBody>
                  <a:tcPr marL="9525" marR="9525" marT="9525" marB="0" anchor="b"/>
                </a:tc>
                <a:tc>
                  <a:txBody>
                    <a:bodyPr/>
                    <a:lstStyle/>
                    <a:p>
                      <a:pPr algn="l" fontAlgn="b"/>
                      <a:r>
                        <a:rPr lang="en-IN" sz="1600" b="0" i="0" u="none" strike="noStrike" dirty="0">
                          <a:solidFill>
                            <a:srgbClr val="000000"/>
                          </a:solidFill>
                          <a:latin typeface="Calibri"/>
                        </a:rPr>
                        <a:t>-</a:t>
                      </a:r>
                      <a:r>
                        <a:rPr lang="en-IN" sz="1600" b="0" i="0" u="none" strike="noStrike" dirty="0" err="1">
                          <a:solidFill>
                            <a:srgbClr val="000000"/>
                          </a:solidFill>
                          <a:latin typeface="Calibri"/>
                        </a:rPr>
                        <a:t>ve</a:t>
                      </a:r>
                      <a:endParaRPr lang="en-IN" sz="1600" b="0" i="0" u="none" strike="noStrike" dirty="0">
                        <a:solidFill>
                          <a:srgbClr val="000000"/>
                        </a:solidFill>
                        <a:latin typeface="Calibri"/>
                      </a:endParaRPr>
                    </a:p>
                  </a:txBody>
                  <a:tcPr marL="9525" marR="9525" marT="9525" marB="0" anchor="b"/>
                </a:tc>
                <a:extLst>
                  <a:ext uri="{0D108BD9-81ED-4DB2-BD59-A6C34878D82A}">
                    <a16:rowId xmlns:a16="http://schemas.microsoft.com/office/drawing/2014/main" val="10008"/>
                  </a:ext>
                </a:extLst>
              </a:tr>
              <a:tr h="461297">
                <a:tc>
                  <a:txBody>
                    <a:bodyPr/>
                    <a:lstStyle/>
                    <a:p>
                      <a:pPr algn="l" fontAlgn="b"/>
                      <a:r>
                        <a:rPr lang="en-IN" sz="1400" b="0" i="0" u="none" strike="noStrike">
                          <a:solidFill>
                            <a:srgbClr val="000000"/>
                          </a:solidFill>
                          <a:latin typeface="Calibri"/>
                        </a:rPr>
                        <a:t>Candor Kolkata One Hi-tech Structures Pvt Ltd</a:t>
                      </a:r>
                    </a:p>
                  </a:txBody>
                  <a:tcPr marL="9525" marR="9525" marT="9525" marB="0" anchor="b"/>
                </a:tc>
                <a:tc>
                  <a:txBody>
                    <a:bodyPr/>
                    <a:lstStyle/>
                    <a:p>
                      <a:pPr algn="ctr" fontAlgn="b"/>
                      <a:r>
                        <a:rPr lang="en-IN" sz="1600" b="0" i="0" u="none" strike="noStrike" dirty="0">
                          <a:solidFill>
                            <a:srgbClr val="000000"/>
                          </a:solidFill>
                          <a:latin typeface="Calibri"/>
                        </a:rPr>
                        <a:t>₹ 2,245</a:t>
                      </a:r>
                    </a:p>
                  </a:txBody>
                  <a:tcPr marL="9525" marR="9525" marT="9525" marB="0" anchor="b"/>
                </a:tc>
                <a:tc>
                  <a:txBody>
                    <a:bodyPr/>
                    <a:lstStyle/>
                    <a:p>
                      <a:pPr algn="ctr" fontAlgn="b"/>
                      <a:r>
                        <a:rPr lang="en-IN" sz="1600" b="0" i="0" u="none" strike="noStrike" dirty="0">
                          <a:solidFill>
                            <a:srgbClr val="000000"/>
                          </a:solidFill>
                          <a:latin typeface="Calibri"/>
                        </a:rPr>
                        <a:t>₹ 2,038</a:t>
                      </a:r>
                    </a:p>
                  </a:txBody>
                  <a:tcPr marL="9525" marR="9525" marT="9525" marB="0" anchor="b"/>
                </a:tc>
                <a:tc>
                  <a:txBody>
                    <a:bodyPr/>
                    <a:lstStyle/>
                    <a:p>
                      <a:pPr algn="ctr" fontAlgn="b"/>
                      <a:r>
                        <a:rPr lang="en-IN" sz="1600" b="0" i="0" u="none" strike="noStrike" dirty="0">
                          <a:solidFill>
                            <a:srgbClr val="00B050"/>
                          </a:solidFill>
                          <a:latin typeface="Calibri"/>
                        </a:rPr>
                        <a:t>₹ 207</a:t>
                      </a:r>
                    </a:p>
                  </a:txBody>
                  <a:tcPr marL="9525" marR="9525" marT="9525" marB="0" anchor="b"/>
                </a:tc>
                <a:tc>
                  <a:txBody>
                    <a:bodyPr/>
                    <a:lstStyle/>
                    <a:p>
                      <a:pPr algn="ctr" fontAlgn="b"/>
                      <a:r>
                        <a:rPr lang="en-IN" sz="1600" b="0" i="0" u="none" strike="noStrike" dirty="0">
                          <a:solidFill>
                            <a:srgbClr val="00B050"/>
                          </a:solidFill>
                          <a:latin typeface="Calibri"/>
                        </a:rPr>
                        <a:t>+9%</a:t>
                      </a:r>
                    </a:p>
                  </a:txBody>
                  <a:tcPr marL="9525" marR="9525" marT="9525" marB="0" anchor="b"/>
                </a:tc>
                <a:tc>
                  <a:txBody>
                    <a:bodyPr/>
                    <a:lstStyle/>
                    <a:p>
                      <a:pPr algn="l" fontAlgn="b"/>
                      <a:r>
                        <a:rPr lang="en-IN" sz="1600" b="0" i="0" u="none" strike="noStrike" dirty="0">
                          <a:solidFill>
                            <a:srgbClr val="000000"/>
                          </a:solidFill>
                          <a:latin typeface="Calibri"/>
                        </a:rPr>
                        <a:t>+</a:t>
                      </a:r>
                      <a:r>
                        <a:rPr lang="en-IN" sz="1600" b="0" i="0" u="none" strike="noStrike" dirty="0" err="1">
                          <a:solidFill>
                            <a:srgbClr val="000000"/>
                          </a:solidFill>
                          <a:latin typeface="Calibri"/>
                        </a:rPr>
                        <a:t>ve</a:t>
                      </a:r>
                      <a:endParaRPr lang="en-IN" sz="1600" b="0" i="0" u="none" strike="noStrike" dirty="0">
                        <a:solidFill>
                          <a:srgbClr val="000000"/>
                        </a:solidFill>
                        <a:latin typeface="Calibri"/>
                      </a:endParaRPr>
                    </a:p>
                  </a:txBody>
                  <a:tcPr marL="9525" marR="9525" marT="9525" marB="0" anchor="b"/>
                </a:tc>
                <a:extLst>
                  <a:ext uri="{0D108BD9-81ED-4DB2-BD59-A6C34878D82A}">
                    <a16:rowId xmlns:a16="http://schemas.microsoft.com/office/drawing/2014/main" val="10009"/>
                  </a:ext>
                </a:extLst>
              </a:tr>
              <a:tr h="453243">
                <a:tc>
                  <a:txBody>
                    <a:bodyPr/>
                    <a:lstStyle/>
                    <a:p>
                      <a:pPr algn="l" fontAlgn="b"/>
                      <a:r>
                        <a:rPr lang="en-IN" sz="1400" b="0" i="0" u="none" strike="noStrike" dirty="0">
                          <a:solidFill>
                            <a:srgbClr val="000000"/>
                          </a:solidFill>
                          <a:latin typeface="Calibri"/>
                        </a:rPr>
                        <a:t>Kolkata IT Park</a:t>
                      </a:r>
                    </a:p>
                  </a:txBody>
                  <a:tcPr marL="9525" marR="9525" marT="9525" marB="0" anchor="b"/>
                </a:tc>
                <a:tc>
                  <a:txBody>
                    <a:bodyPr/>
                    <a:lstStyle/>
                    <a:p>
                      <a:pPr algn="ctr" fontAlgn="b"/>
                      <a:r>
                        <a:rPr lang="en-IN" sz="1600" b="0" i="0" u="none" strike="noStrike" dirty="0">
                          <a:solidFill>
                            <a:srgbClr val="000000"/>
                          </a:solidFill>
                          <a:latin typeface="Calibri"/>
                        </a:rPr>
                        <a:t>₹ 115</a:t>
                      </a:r>
                    </a:p>
                  </a:txBody>
                  <a:tcPr marL="9525" marR="9525" marT="9525" marB="0" anchor="b"/>
                </a:tc>
                <a:tc>
                  <a:txBody>
                    <a:bodyPr/>
                    <a:lstStyle/>
                    <a:p>
                      <a:pPr algn="ctr" fontAlgn="b"/>
                      <a:r>
                        <a:rPr lang="en-IN" sz="1600" b="0" i="0" u="none" strike="noStrike" dirty="0">
                          <a:solidFill>
                            <a:srgbClr val="000000"/>
                          </a:solidFill>
                          <a:latin typeface="Calibri"/>
                        </a:rPr>
                        <a:t>₹ 109</a:t>
                      </a:r>
                    </a:p>
                  </a:txBody>
                  <a:tcPr marL="9525" marR="9525" marT="9525" marB="0" anchor="b"/>
                </a:tc>
                <a:tc>
                  <a:txBody>
                    <a:bodyPr/>
                    <a:lstStyle/>
                    <a:p>
                      <a:pPr algn="ctr" fontAlgn="b"/>
                      <a:r>
                        <a:rPr lang="en-IN" sz="1600" b="0" i="0" u="none" strike="noStrike" dirty="0">
                          <a:solidFill>
                            <a:srgbClr val="00B050"/>
                          </a:solidFill>
                          <a:latin typeface="Calibri"/>
                        </a:rPr>
                        <a:t>₹ 6</a:t>
                      </a:r>
                    </a:p>
                  </a:txBody>
                  <a:tcPr marL="9525" marR="9525" marT="9525" marB="0" anchor="b"/>
                </a:tc>
                <a:tc>
                  <a:txBody>
                    <a:bodyPr/>
                    <a:lstStyle/>
                    <a:p>
                      <a:pPr algn="ctr" fontAlgn="b"/>
                      <a:r>
                        <a:rPr lang="en-IN" sz="1600" b="0" i="0" u="none" strike="noStrike" dirty="0">
                          <a:solidFill>
                            <a:srgbClr val="00B050"/>
                          </a:solidFill>
                          <a:latin typeface="Calibri"/>
                        </a:rPr>
                        <a:t>+5%</a:t>
                      </a:r>
                    </a:p>
                  </a:txBody>
                  <a:tcPr marL="9525" marR="9525" marT="9525" marB="0" anchor="b"/>
                </a:tc>
                <a:tc>
                  <a:txBody>
                    <a:bodyPr/>
                    <a:lstStyle/>
                    <a:p>
                      <a:pPr algn="l" fontAlgn="b"/>
                      <a:r>
                        <a:rPr lang="en-IN" sz="1600" b="0" i="0" u="none" strike="noStrike" dirty="0">
                          <a:solidFill>
                            <a:srgbClr val="000000"/>
                          </a:solidFill>
                          <a:latin typeface="Calibri"/>
                        </a:rPr>
                        <a:t>+</a:t>
                      </a:r>
                      <a:r>
                        <a:rPr lang="en-IN" sz="1600" b="0" i="0" u="none" strike="noStrike" dirty="0" err="1">
                          <a:solidFill>
                            <a:srgbClr val="000000"/>
                          </a:solidFill>
                          <a:latin typeface="Calibri"/>
                        </a:rPr>
                        <a:t>ve</a:t>
                      </a:r>
                      <a:endParaRPr lang="en-IN" sz="1600" b="0" i="0" u="none" strike="noStrike" dirty="0">
                        <a:solidFill>
                          <a:srgbClr val="000000"/>
                        </a:solidFill>
                        <a:latin typeface="Calibri"/>
                      </a:endParaRPr>
                    </a:p>
                  </a:txBody>
                  <a:tcPr marL="9525" marR="9525" marT="9525" marB="0" anchor="b"/>
                </a:tc>
                <a:extLst>
                  <a:ext uri="{0D108BD9-81ED-4DB2-BD59-A6C34878D82A}">
                    <a16:rowId xmlns:a16="http://schemas.microsoft.com/office/drawing/2014/main" val="10010"/>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00000000-0008-0000-0400-000002000000}"/>
              </a:ext>
            </a:extLst>
          </p:cNvPr>
          <p:cNvGraphicFramePr/>
          <p:nvPr/>
        </p:nvGraphicFramePr>
        <p:xfrm>
          <a:off x="357158" y="285728"/>
          <a:ext cx="8143932" cy="6215106"/>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00000000-0008-0000-0500-000002000000}"/>
              </a:ext>
            </a:extLst>
          </p:cNvPr>
          <p:cNvGraphicFramePr/>
          <p:nvPr/>
        </p:nvGraphicFramePr>
        <p:xfrm>
          <a:off x="428596" y="357166"/>
          <a:ext cx="8286808" cy="6143668"/>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71480"/>
          </a:xfrm>
        </p:spPr>
        <p:txBody>
          <a:bodyPr>
            <a:normAutofit fontScale="90000"/>
          </a:bodyPr>
          <a:lstStyle/>
          <a:p>
            <a:br>
              <a:rPr lang="en-US" sz="3100" b="1" dirty="0">
                <a:ln w="12700">
                  <a:solidFill>
                    <a:schemeClr val="tx2">
                      <a:satMod val="155000"/>
                    </a:schemeClr>
                  </a:solidFill>
                  <a:prstDash val="solid"/>
                </a:ln>
                <a:solidFill>
                  <a:srgbClr val="FF0000"/>
                </a:solidFill>
                <a:effectLst>
                  <a:outerShdw blurRad="41275" dist="20320" dir="1800000" algn="tl" rotWithShape="0">
                    <a:srgbClr val="000000">
                      <a:alpha val="40000"/>
                    </a:srgbClr>
                  </a:outerShdw>
                </a:effectLst>
              </a:rPr>
            </a:br>
            <a:br>
              <a:rPr lang="en-US" sz="3100" b="1" dirty="0">
                <a:ln w="12700">
                  <a:solidFill>
                    <a:schemeClr val="tx2">
                      <a:satMod val="155000"/>
                    </a:schemeClr>
                  </a:solidFill>
                  <a:prstDash val="solid"/>
                </a:ln>
                <a:solidFill>
                  <a:srgbClr val="FF0000"/>
                </a:solidFill>
                <a:effectLst>
                  <a:outerShdw blurRad="41275" dist="20320" dir="1800000" algn="tl" rotWithShape="0">
                    <a:srgbClr val="000000">
                      <a:alpha val="40000"/>
                    </a:srgbClr>
                  </a:outerShdw>
                </a:effectLst>
              </a:rPr>
            </a:br>
            <a:r>
              <a:rPr lang="en-US" sz="2700" b="1" dirty="0">
                <a:ln w="12700">
                  <a:solidFill>
                    <a:schemeClr val="tx2">
                      <a:satMod val="155000"/>
                    </a:schemeClr>
                  </a:solidFill>
                  <a:prstDash val="solid"/>
                </a:ln>
                <a:solidFill>
                  <a:srgbClr val="FF0000"/>
                </a:solidFill>
                <a:effectLst>
                  <a:outerShdw blurRad="41275" dist="20320" dir="1800000" algn="tl" rotWithShape="0">
                    <a:srgbClr val="000000">
                      <a:alpha val="40000"/>
                    </a:srgbClr>
                  </a:outerShdw>
                </a:effectLst>
              </a:rPr>
              <a:t>Merchandise Exports for various SEZ 2023-24 (Rs in Cr.)</a:t>
            </a:r>
            <a:b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br>
            <a:endParaRPr lang="en-IN" dirty="0"/>
          </a:p>
        </p:txBody>
      </p:sp>
      <p:graphicFrame>
        <p:nvGraphicFramePr>
          <p:cNvPr id="4" name="Chart 3"/>
          <p:cNvGraphicFramePr/>
          <p:nvPr/>
        </p:nvGraphicFramePr>
        <p:xfrm>
          <a:off x="285720" y="714356"/>
          <a:ext cx="8501121" cy="5857916"/>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96842"/>
          </a:xfrm>
        </p:spPr>
        <p:txBody>
          <a:bodyPr>
            <a:noAutofit/>
          </a:bodyPr>
          <a:lstStyle/>
          <a:p>
            <a:r>
              <a:rPr lang="en-US" sz="2400" b="1" dirty="0">
                <a:solidFill>
                  <a:srgbClr val="FF0000"/>
                </a:solidFill>
              </a:rPr>
              <a:t>Service Exports for Various SEZ 2023-24 (Rs. In Cr.)</a:t>
            </a:r>
            <a:endParaRPr lang="en-IN" sz="2400" b="1" dirty="0">
              <a:solidFill>
                <a:srgbClr val="FF0000"/>
              </a:solidFill>
            </a:endParaRPr>
          </a:p>
        </p:txBody>
      </p:sp>
      <p:graphicFrame>
        <p:nvGraphicFramePr>
          <p:cNvPr id="4" name="Chart 3"/>
          <p:cNvGraphicFramePr/>
          <p:nvPr/>
        </p:nvGraphicFramePr>
        <p:xfrm>
          <a:off x="357158" y="714356"/>
          <a:ext cx="8429684" cy="5715039"/>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9FC5AF96-F7A1-462F-F455-98522B1527AD}"/>
              </a:ext>
            </a:extLst>
          </p:cNvPr>
          <p:cNvGraphicFramePr>
            <a:graphicFrameLocks/>
          </p:cNvGraphicFramePr>
          <p:nvPr>
            <p:extLst>
              <p:ext uri="{D42A27DB-BD31-4B8C-83A1-F6EECF244321}">
                <p14:modId xmlns:p14="http://schemas.microsoft.com/office/powerpoint/2010/main" val="3974309603"/>
              </p:ext>
            </p:extLst>
          </p:nvPr>
        </p:nvGraphicFramePr>
        <p:xfrm>
          <a:off x="539552" y="476672"/>
          <a:ext cx="8280920" cy="583264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7293509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CA678392-DB04-8EDC-DDB4-C1557B93F2E4}"/>
              </a:ext>
            </a:extLst>
          </p:cNvPr>
          <p:cNvGraphicFramePr>
            <a:graphicFrameLocks/>
          </p:cNvGraphicFramePr>
          <p:nvPr>
            <p:extLst>
              <p:ext uri="{D42A27DB-BD31-4B8C-83A1-F6EECF244321}">
                <p14:modId xmlns:p14="http://schemas.microsoft.com/office/powerpoint/2010/main" val="2339048099"/>
              </p:ext>
            </p:extLst>
          </p:nvPr>
        </p:nvGraphicFramePr>
        <p:xfrm>
          <a:off x="611560" y="764704"/>
          <a:ext cx="7992888" cy="547260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0773783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52"/>
            <a:ext cx="8229600" cy="428628"/>
          </a:xfrm>
        </p:spPr>
        <p:txBody>
          <a:bodyPr>
            <a:noAutofit/>
          </a:bodyPr>
          <a:lstStyle/>
          <a:p>
            <a:r>
              <a:rPr lang="en-US" sz="3600" dirty="0">
                <a:solidFill>
                  <a:srgbClr val="FF0000"/>
                </a:solidFill>
              </a:rPr>
              <a:t>EOU – Performance (Rs. In </a:t>
            </a:r>
            <a:r>
              <a:rPr lang="en-US" sz="3600" dirty="0" err="1">
                <a:solidFill>
                  <a:srgbClr val="FF0000"/>
                </a:solidFill>
              </a:rPr>
              <a:t>crore</a:t>
            </a:r>
            <a:r>
              <a:rPr lang="en-US" sz="3600" dirty="0">
                <a:solidFill>
                  <a:srgbClr val="FF0000"/>
                </a:solidFill>
              </a:rPr>
              <a:t>)</a:t>
            </a:r>
            <a:endParaRPr lang="en-IN" sz="3600" dirty="0">
              <a:solidFill>
                <a:srgbClr val="FF0000"/>
              </a:solidFill>
            </a:endParaRPr>
          </a:p>
        </p:txBody>
      </p:sp>
      <p:sp>
        <p:nvSpPr>
          <p:cNvPr id="3" name="Content Placeholder 2"/>
          <p:cNvSpPr>
            <a:spLocks noGrp="1"/>
          </p:cNvSpPr>
          <p:nvPr>
            <p:ph idx="1"/>
          </p:nvPr>
        </p:nvSpPr>
        <p:spPr>
          <a:xfrm>
            <a:off x="428596" y="571480"/>
            <a:ext cx="8229600" cy="6072230"/>
          </a:xfrm>
        </p:spPr>
        <p:txBody>
          <a:bodyPr>
            <a:normAutofit/>
          </a:bodyPr>
          <a:lstStyle/>
          <a:p>
            <a:r>
              <a:rPr lang="en-US" sz="2800" dirty="0">
                <a:solidFill>
                  <a:srgbClr val="00B0F0"/>
                </a:solidFill>
              </a:rPr>
              <a:t>Year wise export figure for the last five years</a:t>
            </a:r>
          </a:p>
          <a:p>
            <a:endParaRPr lang="en-US" dirty="0"/>
          </a:p>
          <a:p>
            <a:endParaRPr lang="en-US" dirty="0"/>
          </a:p>
          <a:p>
            <a:endParaRPr lang="en-US" dirty="0"/>
          </a:p>
          <a:p>
            <a:endParaRPr lang="en-US" dirty="0"/>
          </a:p>
          <a:p>
            <a:pPr>
              <a:buNone/>
            </a:pPr>
            <a:endParaRPr lang="en-US" sz="2000" dirty="0"/>
          </a:p>
          <a:p>
            <a:pPr lvl="8">
              <a:buNone/>
            </a:pPr>
            <a:endParaRPr lang="en-US" sz="800" dirty="0"/>
          </a:p>
        </p:txBody>
      </p:sp>
      <p:graphicFrame>
        <p:nvGraphicFramePr>
          <p:cNvPr id="5" name="Table 4"/>
          <p:cNvGraphicFramePr>
            <a:graphicFrameLocks noGrp="1"/>
          </p:cNvGraphicFramePr>
          <p:nvPr/>
        </p:nvGraphicFramePr>
        <p:xfrm>
          <a:off x="642910" y="1142984"/>
          <a:ext cx="7715304" cy="2103120"/>
        </p:xfrm>
        <a:graphic>
          <a:graphicData uri="http://schemas.openxmlformats.org/drawingml/2006/table">
            <a:tbl>
              <a:tblPr firstRow="1" bandRow="1">
                <a:tableStyleId>{5C22544A-7EE6-4342-B048-85BDC9FD1C3A}</a:tableStyleId>
              </a:tblPr>
              <a:tblGrid>
                <a:gridCol w="792430">
                  <a:extLst>
                    <a:ext uri="{9D8B030D-6E8A-4147-A177-3AD203B41FA5}">
                      <a16:colId xmlns:a16="http://schemas.microsoft.com/office/drawing/2014/main" val="20000"/>
                    </a:ext>
                  </a:extLst>
                </a:gridCol>
                <a:gridCol w="792430">
                  <a:extLst>
                    <a:ext uri="{9D8B030D-6E8A-4147-A177-3AD203B41FA5}">
                      <a16:colId xmlns:a16="http://schemas.microsoft.com/office/drawing/2014/main" val="20001"/>
                    </a:ext>
                  </a:extLst>
                </a:gridCol>
                <a:gridCol w="792430">
                  <a:extLst>
                    <a:ext uri="{9D8B030D-6E8A-4147-A177-3AD203B41FA5}">
                      <a16:colId xmlns:a16="http://schemas.microsoft.com/office/drawing/2014/main" val="20002"/>
                    </a:ext>
                  </a:extLst>
                </a:gridCol>
                <a:gridCol w="792430">
                  <a:extLst>
                    <a:ext uri="{9D8B030D-6E8A-4147-A177-3AD203B41FA5}">
                      <a16:colId xmlns:a16="http://schemas.microsoft.com/office/drawing/2014/main" val="20003"/>
                    </a:ext>
                  </a:extLst>
                </a:gridCol>
                <a:gridCol w="874593">
                  <a:extLst>
                    <a:ext uri="{9D8B030D-6E8A-4147-A177-3AD203B41FA5}">
                      <a16:colId xmlns:a16="http://schemas.microsoft.com/office/drawing/2014/main" val="20004"/>
                    </a:ext>
                  </a:extLst>
                </a:gridCol>
                <a:gridCol w="746642">
                  <a:extLst>
                    <a:ext uri="{9D8B030D-6E8A-4147-A177-3AD203B41FA5}">
                      <a16:colId xmlns:a16="http://schemas.microsoft.com/office/drawing/2014/main" val="20005"/>
                    </a:ext>
                  </a:extLst>
                </a:gridCol>
                <a:gridCol w="933303">
                  <a:extLst>
                    <a:ext uri="{9D8B030D-6E8A-4147-A177-3AD203B41FA5}">
                      <a16:colId xmlns:a16="http://schemas.microsoft.com/office/drawing/2014/main" val="20006"/>
                    </a:ext>
                  </a:extLst>
                </a:gridCol>
                <a:gridCol w="995523">
                  <a:extLst>
                    <a:ext uri="{9D8B030D-6E8A-4147-A177-3AD203B41FA5}">
                      <a16:colId xmlns:a16="http://schemas.microsoft.com/office/drawing/2014/main" val="20007"/>
                    </a:ext>
                  </a:extLst>
                </a:gridCol>
                <a:gridCol w="995523">
                  <a:extLst>
                    <a:ext uri="{9D8B030D-6E8A-4147-A177-3AD203B41FA5}">
                      <a16:colId xmlns:a16="http://schemas.microsoft.com/office/drawing/2014/main" val="20008"/>
                    </a:ext>
                  </a:extLst>
                </a:gridCol>
              </a:tblGrid>
              <a:tr h="714379">
                <a:tc>
                  <a:txBody>
                    <a:bodyPr/>
                    <a:lstStyle/>
                    <a:p>
                      <a:r>
                        <a:rPr lang="en-US" dirty="0"/>
                        <a:t>2015-16</a:t>
                      </a:r>
                      <a:endParaRPr lang="en-IN" dirty="0"/>
                    </a:p>
                  </a:txBody>
                  <a:tcPr/>
                </a:tc>
                <a:tc>
                  <a:txBody>
                    <a:bodyPr/>
                    <a:lstStyle/>
                    <a:p>
                      <a:r>
                        <a:rPr lang="en-US" dirty="0"/>
                        <a:t>2016-17</a:t>
                      </a:r>
                      <a:endParaRPr lang="en-IN" dirty="0"/>
                    </a:p>
                  </a:txBody>
                  <a:tcPr/>
                </a:tc>
                <a:tc>
                  <a:txBody>
                    <a:bodyPr/>
                    <a:lstStyle/>
                    <a:p>
                      <a:r>
                        <a:rPr lang="en-US" dirty="0"/>
                        <a:t>2017-18</a:t>
                      </a:r>
                      <a:endParaRPr lang="en-IN" dirty="0"/>
                    </a:p>
                  </a:txBody>
                  <a:tcPr/>
                </a:tc>
                <a:tc>
                  <a:txBody>
                    <a:bodyPr/>
                    <a:lstStyle/>
                    <a:p>
                      <a:r>
                        <a:rPr lang="en-US" dirty="0"/>
                        <a:t>2018-19</a:t>
                      </a:r>
                      <a:endParaRPr lang="en-IN" dirty="0"/>
                    </a:p>
                  </a:txBody>
                  <a:tcPr/>
                </a:tc>
                <a:tc>
                  <a:txBody>
                    <a:bodyPr/>
                    <a:lstStyle/>
                    <a:p>
                      <a:r>
                        <a:rPr lang="en-US" dirty="0"/>
                        <a:t>2019-20</a:t>
                      </a:r>
                      <a:endParaRPr lang="en-IN" dirty="0"/>
                    </a:p>
                  </a:txBody>
                  <a:tcPr/>
                </a:tc>
                <a:tc>
                  <a:txBody>
                    <a:bodyPr/>
                    <a:lstStyle/>
                    <a:p>
                      <a:r>
                        <a:rPr lang="en-US" dirty="0"/>
                        <a:t>2020-21</a:t>
                      </a:r>
                      <a:endParaRPr lang="en-IN" dirty="0"/>
                    </a:p>
                  </a:txBody>
                  <a:tcPr/>
                </a:tc>
                <a:tc>
                  <a:txBody>
                    <a:bodyPr/>
                    <a:lstStyle/>
                    <a:p>
                      <a:r>
                        <a:rPr lang="en-US" dirty="0"/>
                        <a:t>2021-22 (up to Mar Prov.)</a:t>
                      </a:r>
                      <a:endParaRPr lang="en-IN" dirty="0"/>
                    </a:p>
                  </a:txBody>
                  <a:tcPr/>
                </a:tc>
                <a:tc>
                  <a:txBody>
                    <a:bodyPr/>
                    <a:lstStyle/>
                    <a:p>
                      <a:r>
                        <a:rPr lang="en-US" dirty="0"/>
                        <a:t>2022-23</a:t>
                      </a:r>
                    </a:p>
                    <a:p>
                      <a:r>
                        <a:rPr lang="en-US" dirty="0"/>
                        <a:t>(up to</a:t>
                      </a:r>
                      <a:r>
                        <a:rPr lang="en-US" baseline="0" dirty="0"/>
                        <a:t> March 2023 Prov.</a:t>
                      </a:r>
                      <a:r>
                        <a:rPr lang="en-US" dirty="0"/>
                        <a:t>)</a:t>
                      </a:r>
                      <a:endParaRPr lang="en-IN" dirty="0"/>
                    </a:p>
                  </a:txBody>
                  <a:tcPr/>
                </a:tc>
                <a:tc>
                  <a:txBody>
                    <a:bodyPr/>
                    <a:lstStyle/>
                    <a:p>
                      <a:r>
                        <a:rPr lang="en-US" dirty="0"/>
                        <a:t>2023-24</a:t>
                      </a:r>
                    </a:p>
                    <a:p>
                      <a:r>
                        <a:rPr lang="en-US" dirty="0"/>
                        <a:t>(up to July 2023-24)</a:t>
                      </a:r>
                      <a:endParaRPr lang="en-IN" dirty="0"/>
                    </a:p>
                  </a:txBody>
                  <a:tcPr/>
                </a:tc>
                <a:extLst>
                  <a:ext uri="{0D108BD9-81ED-4DB2-BD59-A6C34878D82A}">
                    <a16:rowId xmlns:a16="http://schemas.microsoft.com/office/drawing/2014/main" val="10000"/>
                  </a:ext>
                </a:extLst>
              </a:tr>
              <a:tr h="336799">
                <a:tc>
                  <a:txBody>
                    <a:bodyPr/>
                    <a:lstStyle/>
                    <a:p>
                      <a:r>
                        <a:rPr lang="en-US" dirty="0"/>
                        <a:t>1974.63</a:t>
                      </a:r>
                      <a:endParaRPr lang="en-IN" dirty="0"/>
                    </a:p>
                  </a:txBody>
                  <a:tcPr/>
                </a:tc>
                <a:tc>
                  <a:txBody>
                    <a:bodyPr/>
                    <a:lstStyle/>
                    <a:p>
                      <a:r>
                        <a:rPr lang="en-US" dirty="0"/>
                        <a:t>1915.23</a:t>
                      </a:r>
                      <a:endParaRPr lang="en-IN" dirty="0"/>
                    </a:p>
                  </a:txBody>
                  <a:tcPr/>
                </a:tc>
                <a:tc>
                  <a:txBody>
                    <a:bodyPr/>
                    <a:lstStyle/>
                    <a:p>
                      <a:r>
                        <a:rPr lang="en-US" dirty="0"/>
                        <a:t>2019.99</a:t>
                      </a:r>
                      <a:endParaRPr lang="en-IN" dirty="0"/>
                    </a:p>
                  </a:txBody>
                  <a:tcPr/>
                </a:tc>
                <a:tc>
                  <a:txBody>
                    <a:bodyPr/>
                    <a:lstStyle/>
                    <a:p>
                      <a:r>
                        <a:rPr lang="en-US" dirty="0"/>
                        <a:t>2146.68</a:t>
                      </a:r>
                      <a:endParaRPr lang="en-IN" dirty="0"/>
                    </a:p>
                  </a:txBody>
                  <a:tcPr/>
                </a:tc>
                <a:tc>
                  <a:txBody>
                    <a:bodyPr/>
                    <a:lstStyle/>
                    <a:p>
                      <a:r>
                        <a:rPr lang="en-US" dirty="0"/>
                        <a:t>1804.17</a:t>
                      </a:r>
                      <a:endParaRPr lang="en-IN" dirty="0"/>
                    </a:p>
                  </a:txBody>
                  <a:tcPr/>
                </a:tc>
                <a:tc>
                  <a:txBody>
                    <a:bodyPr/>
                    <a:lstStyle/>
                    <a:p>
                      <a:r>
                        <a:rPr lang="en-US" dirty="0"/>
                        <a:t>2024.50</a:t>
                      </a:r>
                      <a:endParaRPr lang="en-IN" dirty="0"/>
                    </a:p>
                  </a:txBody>
                  <a:tcPr/>
                </a:tc>
                <a:tc>
                  <a:txBody>
                    <a:bodyPr/>
                    <a:lstStyle/>
                    <a:p>
                      <a:r>
                        <a:rPr lang="en-US" dirty="0"/>
                        <a:t>2035.02</a:t>
                      </a:r>
                      <a:endParaRPr lang="en-IN" dirty="0"/>
                    </a:p>
                  </a:txBody>
                  <a:tcPr/>
                </a:tc>
                <a:tc>
                  <a:txBody>
                    <a:bodyPr/>
                    <a:lstStyle/>
                    <a:p>
                      <a:r>
                        <a:rPr lang="en-US" dirty="0"/>
                        <a:t>2008.99</a:t>
                      </a:r>
                      <a:endParaRPr lang="en-IN" dirty="0"/>
                    </a:p>
                  </a:txBody>
                  <a:tcPr/>
                </a:tc>
                <a:tc>
                  <a:txBody>
                    <a:bodyPr/>
                    <a:lstStyle/>
                    <a:p>
                      <a:r>
                        <a:rPr lang="en-US"/>
                        <a:t>494.17</a:t>
                      </a:r>
                      <a:endParaRPr lang="en-IN" dirty="0"/>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Challenges faced</a:t>
            </a:r>
          </a:p>
        </p:txBody>
      </p:sp>
      <p:sp>
        <p:nvSpPr>
          <p:cNvPr id="6" name="Content Placeholder 2"/>
          <p:cNvSpPr>
            <a:spLocks noGrp="1"/>
          </p:cNvSpPr>
          <p:nvPr>
            <p:ph idx="1"/>
          </p:nvPr>
        </p:nvSpPr>
        <p:spPr>
          <a:xfrm>
            <a:off x="395536" y="1340768"/>
            <a:ext cx="8367464" cy="5149552"/>
          </a:xfrm>
        </p:spPr>
        <p:txBody>
          <a:bodyPr>
            <a:noAutofit/>
          </a:bodyPr>
          <a:lstStyle/>
          <a:p>
            <a:pPr algn="just"/>
            <a:r>
              <a:rPr lang="en-US" sz="2800" b="1" dirty="0"/>
              <a:t>Shallow Port Facility</a:t>
            </a:r>
            <a:r>
              <a:rPr lang="en-US" sz="2800" dirty="0"/>
              <a:t> at Kolkata Port and </a:t>
            </a:r>
            <a:r>
              <a:rPr lang="en-US" sz="2800" dirty="0" err="1"/>
              <a:t>Haldia</a:t>
            </a:r>
            <a:r>
              <a:rPr lang="en-US" sz="2800" dirty="0"/>
              <a:t> Port.</a:t>
            </a:r>
          </a:p>
          <a:p>
            <a:pPr algn="just">
              <a:buNone/>
            </a:pPr>
            <a:endParaRPr lang="en-US" sz="2800" dirty="0"/>
          </a:p>
          <a:p>
            <a:pPr algn="just"/>
            <a:r>
              <a:rPr lang="en-US" sz="2800" dirty="0"/>
              <a:t>Out of 55km distance from Kolkata Airport to the </a:t>
            </a:r>
            <a:r>
              <a:rPr lang="en-US" sz="2800" dirty="0" err="1"/>
              <a:t>Falta</a:t>
            </a:r>
            <a:r>
              <a:rPr lang="en-US" sz="2800" dirty="0"/>
              <a:t> Zone , approx 40kms is NH, which requires widening at some  overcrowded yet crucial locations.</a:t>
            </a:r>
          </a:p>
          <a:p>
            <a:pPr algn="just"/>
            <a:endParaRPr lang="en-US" sz="2800" dirty="0"/>
          </a:p>
          <a:p>
            <a:pPr algn="just"/>
            <a:r>
              <a:rPr lang="en-US" sz="2800" dirty="0"/>
              <a:t>Scarcity of containers – operational hurdles at Kolkata Port.</a:t>
            </a:r>
          </a:p>
          <a:p>
            <a:pPr algn="just"/>
            <a:r>
              <a:rPr lang="en-US" sz="2800" dirty="0"/>
              <a:t>Resulting in more freight charges and increased turnaround time.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Way Forward – Upgrade to Next Level</a:t>
            </a:r>
          </a:p>
        </p:txBody>
      </p:sp>
      <p:sp>
        <p:nvSpPr>
          <p:cNvPr id="3" name="Content Placeholder 2"/>
          <p:cNvSpPr>
            <a:spLocks noGrp="1"/>
          </p:cNvSpPr>
          <p:nvPr>
            <p:ph idx="1"/>
          </p:nvPr>
        </p:nvSpPr>
        <p:spPr>
          <a:xfrm>
            <a:off x="857224" y="1357298"/>
            <a:ext cx="7500990" cy="5072098"/>
          </a:xfrm>
        </p:spPr>
        <p:txBody>
          <a:bodyPr>
            <a:normAutofit fontScale="92500" lnSpcReduction="10000"/>
          </a:bodyPr>
          <a:lstStyle/>
          <a:p>
            <a:r>
              <a:rPr lang="en-US" dirty="0"/>
              <a:t>1.   Innovation-driven SEZs</a:t>
            </a:r>
          </a:p>
          <a:p>
            <a:r>
              <a:rPr lang="en-US" dirty="0"/>
              <a:t>2.   R&amp;D based SEZs</a:t>
            </a:r>
          </a:p>
          <a:p>
            <a:pPr>
              <a:buNone/>
            </a:pPr>
            <a:r>
              <a:rPr lang="en-US" dirty="0"/>
              <a:t>   (Biotech, Nanotech, Robotics)</a:t>
            </a:r>
          </a:p>
          <a:p>
            <a:r>
              <a:rPr lang="en-US" dirty="0"/>
              <a:t>3.   Cross-border SEZs</a:t>
            </a:r>
          </a:p>
          <a:p>
            <a:r>
              <a:rPr lang="en-US" dirty="0"/>
              <a:t>4.   Tourism-based SEZs</a:t>
            </a:r>
          </a:p>
          <a:p>
            <a:r>
              <a:rPr lang="en-US" dirty="0"/>
              <a:t>5.   Health-Tourism SEZs</a:t>
            </a:r>
          </a:p>
          <a:p>
            <a:pPr algn="just"/>
            <a:r>
              <a:rPr lang="en-US" dirty="0"/>
              <a:t>6.   Special region-specific benefits may be considered to be extended on differential basis to counter regional imbalance of financial growth.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29600" cy="857272"/>
          </a:xfrm>
        </p:spPr>
        <p:txBody>
          <a:bodyPr/>
          <a:lstStyle/>
          <a:p>
            <a:r>
              <a:rPr lang="en-US" b="1" dirty="0">
                <a:solidFill>
                  <a:srgbClr val="FF0000"/>
                </a:solidFill>
              </a:rPr>
              <a:t>Present Level to Next Level</a:t>
            </a:r>
          </a:p>
        </p:txBody>
      </p:sp>
      <p:sp>
        <p:nvSpPr>
          <p:cNvPr id="3" name="Content Placeholder 2"/>
          <p:cNvSpPr>
            <a:spLocks noGrp="1"/>
          </p:cNvSpPr>
          <p:nvPr>
            <p:ph idx="1"/>
          </p:nvPr>
        </p:nvSpPr>
        <p:spPr>
          <a:xfrm>
            <a:off x="428596" y="857232"/>
            <a:ext cx="8229600" cy="5715040"/>
          </a:xfrm>
        </p:spPr>
        <p:txBody>
          <a:bodyPr>
            <a:normAutofit/>
          </a:bodyPr>
          <a:lstStyle/>
          <a:p>
            <a:r>
              <a:rPr lang="en-US" sz="2600" dirty="0"/>
              <a:t>High Tech:</a:t>
            </a:r>
          </a:p>
          <a:p>
            <a:pPr marL="514350" indent="-514350" algn="just">
              <a:buFont typeface="+mj-lt"/>
              <a:buAutoNum type="arabicPeriod"/>
            </a:pPr>
            <a:r>
              <a:rPr lang="en-US" sz="2600" dirty="0"/>
              <a:t>Meeting the need of the world &amp; Indian consumption for import substitution.</a:t>
            </a:r>
          </a:p>
          <a:p>
            <a:pPr marL="514350" indent="-514350" algn="just">
              <a:buNone/>
            </a:pPr>
            <a:r>
              <a:rPr lang="en-US" sz="2600" dirty="0"/>
              <a:t>  - Mobile manufacturing</a:t>
            </a:r>
          </a:p>
          <a:p>
            <a:pPr marL="514350" indent="-514350" algn="just">
              <a:buNone/>
            </a:pPr>
            <a:r>
              <a:rPr lang="en-US" sz="2600" dirty="0"/>
              <a:t>  - Computer hardware manufacturing</a:t>
            </a:r>
          </a:p>
          <a:p>
            <a:pPr marL="514350" indent="-514350" algn="just">
              <a:buNone/>
            </a:pPr>
            <a:r>
              <a:rPr lang="en-US" sz="2600" dirty="0"/>
              <a:t>  - Solar Cell manufacturing</a:t>
            </a:r>
          </a:p>
          <a:p>
            <a:pPr marL="514350" indent="-514350" algn="just">
              <a:buNone/>
            </a:pPr>
            <a:r>
              <a:rPr lang="en-US" sz="2600" dirty="0"/>
              <a:t>  - Aeronautics &amp; Space Technology</a:t>
            </a:r>
          </a:p>
          <a:p>
            <a:pPr marL="514350" indent="-514350" algn="just">
              <a:buNone/>
            </a:pPr>
            <a:endParaRPr lang="en-US" sz="2600" dirty="0"/>
          </a:p>
          <a:p>
            <a:pPr marL="514350" indent="-514350" algn="just">
              <a:buAutoNum type="arabicPeriod" startAt="2"/>
            </a:pPr>
            <a:r>
              <a:rPr lang="en-US" sz="2600" dirty="0"/>
              <a:t>IOT, Big Data, 3D Printing, Advance Robotics, Drones &amp; Artificial Intelligence.</a:t>
            </a:r>
          </a:p>
          <a:p>
            <a:pPr marL="514350" indent="-514350" algn="just">
              <a:buNone/>
            </a:pPr>
            <a:endParaRPr lang="en-US" sz="2600" dirty="0"/>
          </a:p>
          <a:p>
            <a:pPr marL="514350" indent="-514350" algn="just">
              <a:buAutoNum type="arabicPeriod" startAt="2"/>
            </a:pPr>
            <a:r>
              <a:rPr lang="en-US" sz="2600" dirty="0"/>
              <a:t>Microbiology, Bio-technology, </a:t>
            </a:r>
            <a:r>
              <a:rPr lang="en-US" sz="2600" dirty="0" err="1"/>
              <a:t>Nano</a:t>
            </a:r>
            <a:r>
              <a:rPr lang="en-US" sz="2600" dirty="0"/>
              <a:t>-technology</a:t>
            </a:r>
          </a:p>
          <a:p>
            <a:pPr marL="514350" indent="-514350" algn="just">
              <a:buAutoNum type="arabicPeriod" startAt="2"/>
            </a:pPr>
            <a:endParaRPr lang="en-US" sz="2600" dirty="0"/>
          </a:p>
          <a:p>
            <a:pPr marL="514350" indent="-514350"/>
            <a:endParaRPr lang="en-US" sz="2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0"/>
            <a:ext cx="8229600" cy="1143000"/>
          </a:xfrm>
        </p:spPr>
        <p:txBody>
          <a:bodyPr>
            <a:normAutofit/>
          </a:bodyPr>
          <a:lstStyle/>
          <a:p>
            <a:r>
              <a:rPr lang="en-US" sz="3600" b="1" dirty="0">
                <a:solidFill>
                  <a:srgbClr val="00B050"/>
                </a:solidFill>
              </a:rPr>
              <a:t>Sustainable Development – Goal of UN</a:t>
            </a:r>
          </a:p>
        </p:txBody>
      </p:sp>
      <p:sp>
        <p:nvSpPr>
          <p:cNvPr id="3" name="Content Placeholder 2"/>
          <p:cNvSpPr>
            <a:spLocks noGrp="1"/>
          </p:cNvSpPr>
          <p:nvPr>
            <p:ph idx="1"/>
          </p:nvPr>
        </p:nvSpPr>
        <p:spPr>
          <a:xfrm>
            <a:off x="357158" y="928670"/>
            <a:ext cx="8572560" cy="5572164"/>
          </a:xfrm>
        </p:spPr>
        <p:txBody>
          <a:bodyPr>
            <a:normAutofit fontScale="92500" lnSpcReduction="10000"/>
          </a:bodyPr>
          <a:lstStyle/>
          <a:p>
            <a:pPr marL="514350" indent="-514350">
              <a:buFont typeface="+mj-lt"/>
              <a:buAutoNum type="arabicPeriod"/>
            </a:pPr>
            <a:r>
              <a:rPr lang="en-US" dirty="0"/>
              <a:t>Kyoto &amp; Paris agreement – Sustainable development is the key.</a:t>
            </a:r>
          </a:p>
          <a:p>
            <a:pPr marL="514350" indent="-514350">
              <a:buAutoNum type="arabicPeriod" startAt="2"/>
            </a:pPr>
            <a:r>
              <a:rPr lang="en-US" dirty="0"/>
              <a:t>Green &amp; Clean SEZs.</a:t>
            </a:r>
          </a:p>
          <a:p>
            <a:pPr marL="514350" indent="-514350" algn="just">
              <a:buAutoNum type="arabicPeriod" startAt="2"/>
            </a:pPr>
            <a:r>
              <a:rPr lang="en-US" dirty="0"/>
              <a:t>Utilization of newer energy sources/Green energy, Plantation, Ground Water Recharge, Solid Waste management, Effluent Treatment Plant, Zero discharge to water bodies.</a:t>
            </a:r>
          </a:p>
          <a:p>
            <a:pPr marL="514350" indent="-514350" algn="just">
              <a:buAutoNum type="arabicPeriod" startAt="2"/>
            </a:pPr>
            <a:r>
              <a:rPr lang="en-US" dirty="0"/>
              <a:t>Value addition to agriculture to have </a:t>
            </a:r>
            <a:r>
              <a:rPr lang="en-US" b="1" dirty="0"/>
              <a:t>inclusive growth benefit </a:t>
            </a:r>
            <a:r>
              <a:rPr lang="en-US" dirty="0"/>
              <a:t>to the farmer.</a:t>
            </a:r>
          </a:p>
          <a:p>
            <a:pPr marL="514350" indent="-514350" algn="just">
              <a:buAutoNum type="arabicPeriod" startAt="5"/>
            </a:pPr>
            <a:r>
              <a:rPr lang="en-US" dirty="0"/>
              <a:t>Skill Development.</a:t>
            </a:r>
          </a:p>
          <a:p>
            <a:pPr marL="514350" indent="-514350" algn="just">
              <a:buAutoNum type="arabicPeriod" startAt="5"/>
            </a:pPr>
            <a:r>
              <a:rPr lang="en-US" dirty="0"/>
              <a:t>Social Impact – </a:t>
            </a:r>
            <a:r>
              <a:rPr lang="en-US" dirty="0" err="1"/>
              <a:t>Labour</a:t>
            </a:r>
            <a:r>
              <a:rPr lang="en-US" dirty="0"/>
              <a:t> law, Social Security, Industrial Safety, Capacity building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62200"/>
            <a:ext cx="8229600" cy="1143000"/>
          </a:xfrm>
        </p:spPr>
        <p:txBody>
          <a:bodyPr/>
          <a:lstStyle/>
          <a:p>
            <a:r>
              <a:rPr lang="en-IN" dirty="0"/>
              <a:t>Thank You</a:t>
            </a:r>
          </a:p>
        </p:txBody>
      </p:sp>
    </p:spTree>
    <p:extLst>
      <p:ext uri="{BB962C8B-B14F-4D97-AF65-F5344CB8AC3E}">
        <p14:creationId xmlns:p14="http://schemas.microsoft.com/office/powerpoint/2010/main" val="26482864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3874</TotalTime>
  <Words>1293</Words>
  <Application>Microsoft Office PowerPoint</Application>
  <PresentationFormat>On-screen Show (4:3)</PresentationFormat>
  <Paragraphs>244</Paragraphs>
  <Slides>22</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SPECIAL ECONOMIC ZONE  A PERSPECTIVE VIEW </vt:lpstr>
      <vt:lpstr>The Indian scenario</vt:lpstr>
      <vt:lpstr>Historical Trend of SEZs in India</vt:lpstr>
      <vt:lpstr>PowerPoint Presentation</vt:lpstr>
      <vt:lpstr>  New SEZs in Last three years 20th August 2019 -Adani Power (Jharkhand) Ltd  SEZ :  Godda District, Jharkhand </vt:lpstr>
      <vt:lpstr> 16.12.2019 - Agro Based SEZ, Sabroom, Tripura </vt:lpstr>
      <vt:lpstr> 8th June, 2021  - IT/ITES  SEZ at Namli, Sikkim  </vt:lpstr>
      <vt:lpstr>PowerPoint Presentation</vt:lpstr>
      <vt:lpstr>PowerPoint Presentation</vt:lpstr>
      <vt:lpstr>PowerPoint Presentation</vt:lpstr>
      <vt:lpstr>PowerPoint Presentation</vt:lpstr>
      <vt:lpstr>PowerPoint Presentation</vt:lpstr>
      <vt:lpstr>  Merchandise Exports for various SEZ 2023-24 (Rs in Cr.) </vt:lpstr>
      <vt:lpstr>Service Exports for Various SEZ 2023-24 (Rs. In Cr.)</vt:lpstr>
      <vt:lpstr>PowerPoint Presentation</vt:lpstr>
      <vt:lpstr>PowerPoint Presentation</vt:lpstr>
      <vt:lpstr>EOU – Performance (Rs. In crore)</vt:lpstr>
      <vt:lpstr>Challenges faced</vt:lpstr>
      <vt:lpstr>Way Forward – Upgrade to Next Level</vt:lpstr>
      <vt:lpstr>Present Level to Next Level</vt:lpstr>
      <vt:lpstr>Sustainable Development – Goal of UN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Falta SEZ – A brief insight</dc:title>
  <dc:creator>D. BHAKTA-ADC</dc:creator>
  <cp:lastModifiedBy>Avik Datta</cp:lastModifiedBy>
  <cp:revision>629</cp:revision>
  <cp:lastPrinted>2021-11-10T07:37:54Z</cp:lastPrinted>
  <dcterms:created xsi:type="dcterms:W3CDTF">2006-08-16T00:00:00Z</dcterms:created>
  <dcterms:modified xsi:type="dcterms:W3CDTF">2023-08-29T09:26:33Z</dcterms:modified>
</cp:coreProperties>
</file>